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92" r:id="rId2"/>
    <p:sldId id="269" r:id="rId3"/>
    <p:sldId id="353" r:id="rId4"/>
    <p:sldId id="340" r:id="rId5"/>
    <p:sldId id="351" r:id="rId6"/>
    <p:sldId id="341" r:id="rId7"/>
    <p:sldId id="342" r:id="rId8"/>
    <p:sldId id="352" r:id="rId9"/>
    <p:sldId id="343" r:id="rId10"/>
    <p:sldId id="344" r:id="rId11"/>
    <p:sldId id="348" r:id="rId12"/>
    <p:sldId id="345" r:id="rId13"/>
    <p:sldId id="354" r:id="rId14"/>
    <p:sldId id="350" r:id="rId15"/>
    <p:sldId id="349" r:id="rId16"/>
    <p:sldId id="346" r:id="rId17"/>
    <p:sldId id="347" r:id="rId18"/>
    <p:sldId id="339" r:id="rId19"/>
  </p:sldIdLst>
  <p:sldSz cx="12192000" cy="6858000"/>
  <p:notesSz cx="6858000" cy="9144000"/>
  <p:custDataLst>
    <p:tags r:id="rId2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9900"/>
    <a:srgbClr val="00779A"/>
    <a:srgbClr val="1C768F"/>
    <a:srgbClr val="09B2AC"/>
    <a:srgbClr val="014A6B"/>
    <a:srgbClr val="4DC7D2"/>
    <a:srgbClr val="04B1AA"/>
    <a:srgbClr val="32BBC7"/>
    <a:srgbClr val="05B1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008" autoAdjust="0"/>
  </p:normalViewPr>
  <p:slideViewPr>
    <p:cSldViewPr snapToGrid="0" showGuides="1">
      <p:cViewPr varScale="1">
        <p:scale>
          <a:sx n="64" d="100"/>
          <a:sy n="64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8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mitt, Siwara" userId="f383093a-0de4-48b0-9f97-9d538728e9c2" providerId="ADAL" clId="{FB00A7BC-5273-4D50-9DFF-3AB06671197D}"/>
    <pc:docChg chg="custSel modMainMaster">
      <pc:chgData name="Schmitt, Siwara" userId="f383093a-0de4-48b0-9f97-9d538728e9c2" providerId="ADAL" clId="{FB00A7BC-5273-4D50-9DFF-3AB06671197D}" dt="2025-06-29T16:22:59.108" v="0" actId="20577"/>
      <pc:docMkLst>
        <pc:docMk/>
      </pc:docMkLst>
      <pc:sldMasterChg chg="modSp mod">
        <pc:chgData name="Schmitt, Siwara" userId="f383093a-0de4-48b0-9f97-9d538728e9c2" providerId="ADAL" clId="{FB00A7BC-5273-4D50-9DFF-3AB06671197D}" dt="2025-06-29T16:22:59.108" v="0" actId="20577"/>
        <pc:sldMasterMkLst>
          <pc:docMk/>
          <pc:sldMasterMk cId="357623337" sldId="2147483648"/>
        </pc:sldMasterMkLst>
        <pc:spChg chg="mod">
          <ac:chgData name="Schmitt, Siwara" userId="f383093a-0de4-48b0-9f97-9d538728e9c2" providerId="ADAL" clId="{FB00A7BC-5273-4D50-9DFF-3AB06671197D}" dt="2025-06-29T16:22:59.108" v="0" actId="20577"/>
          <ac:spMkLst>
            <pc:docMk/>
            <pc:sldMasterMk cId="357623337" sldId="2147483648"/>
            <ac:spMk id="44" creationId="{6C489D0F-950D-4913-86C7-7EB1061786F3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028EFDA-A75E-49AB-9C1C-E96D5D8201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DB3184-593B-4E78-B58C-DA62E4A2A4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B798-6D2C-417B-AF46-ECB70983C150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15F87B-7E94-4DDB-9703-3B62B77C5F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C9CA73-2501-4D43-9D8D-E09D9E3F3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51251-5CB6-4896-AAF1-C5E7C8033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44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0A665-AB63-487C-A689-A96D5AA0C8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55821" y="1143000"/>
            <a:ext cx="3946358" cy="221982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29F0A-9DE2-44AB-9A84-CC28BAF7B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65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kern="1200">
        <a:solidFill>
          <a:schemeClr val="accent1"/>
        </a:solidFill>
        <a:latin typeface="+mj-lt"/>
        <a:ea typeface="+mn-ea"/>
        <a:cs typeface="+mn-cs"/>
      </a:defRPr>
    </a:lvl1pPr>
    <a:lvl2pPr marL="180975" indent="-180975" algn="l" defTabSz="914400" rtl="0" eaLnBrk="1" latinLnBrk="0" hangingPunct="1">
      <a:buClr>
        <a:schemeClr val="accent1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2313" indent="-180975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große Headline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808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75388" y="2836283"/>
            <a:ext cx="5916612" cy="3148592"/>
          </a:xfrm>
          <a:gradFill flip="none" rotWithShape="1">
            <a:gsLst>
              <a:gs pos="34000">
                <a:srgbClr val="00779A"/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360000" tIns="360000" rIns="360000" bIns="360000" anchor="b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20"/>
              </a:lnSpc>
              <a:spcAft>
                <a:spcPts val="160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6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32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3"/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983B20-CF3E-4EB7-8ABD-887696F49A4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758628-A8B7-4C0C-9D76-AB8C368362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93D0D8-808F-4B9D-9E74-3D2864287D2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87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große Headlin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0905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002996"/>
            <a:ext cx="5916612" cy="2981879"/>
          </a:xfrm>
          <a:gradFill flip="none" rotWithShape="1">
            <a:gsLst>
              <a:gs pos="34000">
                <a:srgbClr val="1D7790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360000" rIns="360000" bIns="360000" anchor="b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3200"/>
              </a:lnSpc>
              <a:spcAft>
                <a:spcPts val="64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32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68778D-8BC8-464B-A800-1D1791A3726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260CBB-BBBF-4BD2-A2B2-E16FB43BCE8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9F131B-2B68-425B-8FFF-8D359E0D5DD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52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kleine Headline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43910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75388" y="2974270"/>
            <a:ext cx="5916612" cy="3010605"/>
          </a:xfrm>
          <a:gradFill flip="none" rotWithShape="1">
            <a:gsLst>
              <a:gs pos="34000">
                <a:srgbClr val="00779A"/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360000" tIns="360000" rIns="360000" bIns="360000" anchor="b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2640"/>
              </a:lnSpc>
              <a:spcAft>
                <a:spcPts val="1200"/>
              </a:spcAft>
              <a:defRPr sz="312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184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Headline klein, Frutiger LT </a:t>
            </a:r>
            <a:r>
              <a:rPr lang="de-DE" dirty="0" err="1"/>
              <a:t>Com</a:t>
            </a:r>
            <a:r>
              <a:rPr lang="de-DE" dirty="0"/>
              <a:t> Light, 24 </a:t>
            </a:r>
            <a:r>
              <a:rPr lang="de-DE" dirty="0" err="1"/>
              <a:t>pt</a:t>
            </a:r>
            <a:br>
              <a:rPr lang="de-DE" dirty="0"/>
            </a:br>
            <a:r>
              <a:rPr lang="de-DE" dirty="0"/>
              <a:t>max. 3 Zeilen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3"/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64FAF97-8E98-4493-977E-6FEDC5291BD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90CB561-9F99-4288-90CE-88D602D52C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596121-908B-4B59-963A-E95F7A8684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9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kleine Headlin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1537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038390"/>
            <a:ext cx="5916612" cy="2946485"/>
          </a:xfrm>
          <a:gradFill flip="none" rotWithShape="1">
            <a:gsLst>
              <a:gs pos="34000">
                <a:srgbClr val="00779A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360000" rIns="360000" bIns="360000" anchor="b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2800"/>
              </a:lnSpc>
              <a:spcAft>
                <a:spcPts val="480"/>
              </a:spcAft>
              <a:defRPr sz="312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24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lang="de-DE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Headline klein, Frutiger LT </a:t>
            </a:r>
            <a:r>
              <a:rPr lang="de-DE" dirty="0" err="1"/>
              <a:t>Com</a:t>
            </a:r>
            <a:r>
              <a:rPr lang="de-DE" dirty="0"/>
              <a:t> Light, 24 </a:t>
            </a:r>
            <a:r>
              <a:rPr lang="de-DE" dirty="0" err="1"/>
              <a:t>pt</a:t>
            </a:r>
            <a:r>
              <a:rPr lang="de-DE" dirty="0"/>
              <a:t>,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arem</a:t>
            </a:r>
            <a:r>
              <a:rPr lang="de-DE" dirty="0"/>
              <a:t> max. 3 Zeilen</a:t>
            </a:r>
          </a:p>
          <a:p>
            <a:pPr marL="0" lvl="3" indent="0" algn="l" defTabSz="914400" rtl="0" eaLnBrk="1" latinLnBrk="0" hangingPunct="1">
              <a:lnSpc>
                <a:spcPts val="1840"/>
              </a:lnSpc>
              <a:spcBef>
                <a:spcPts val="184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6C9846-D78A-41C2-B9DE-AAB4647AB0B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8AD9C8-2824-4897-945F-4A8A1D2456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1209F8-6861-41DE-A5C0-5C8F5AB39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7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Co-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5440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572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524025"/>
            <a:ext cx="7824783" cy="2981879"/>
          </a:xfrm>
          <a:gradFill flip="none" rotWithShape="1">
            <a:gsLst>
              <a:gs pos="34000">
                <a:srgbClr val="1E7992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 lIns="486000" tIns="360000" rIns="360000" bIns="360000" anchor="b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3200"/>
              </a:lnSpc>
              <a:spcAft>
                <a:spcPts val="64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32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5719AE-30B8-45EA-B80C-409CF4F2B2F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3BC588A-DC32-4D84-AD10-E7DF3D9A9CD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CB5C3E-E47D-427A-AA11-CB39E0BAF2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65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Co-Brand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9587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2357312"/>
            <a:ext cx="7824787" cy="3148592"/>
          </a:xfrm>
          <a:gradFill flip="none" rotWithShape="1">
            <a:gsLst>
              <a:gs pos="34000">
                <a:srgbClr val="00779A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 lIns="486000" tIns="360000" rIns="360000" bIns="360000" anchor="t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20"/>
              </a:lnSpc>
              <a:spcAft>
                <a:spcPts val="160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32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3"/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A4204C2-4248-49B0-B888-AEDE5C87E8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296C33-84D5-4891-A511-A73F2EF90ED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DE090B-8EDC-46F6-A07B-49E25523BDD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50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große Headline unte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02745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7C751A8B-7DD1-4C74-A6D8-AE2E6694A0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0014" b="10419"/>
          <a:stretch/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490309"/>
            <a:ext cx="11712574" cy="2494566"/>
          </a:xfrm>
          <a:noFill/>
        </p:spPr>
        <p:txBody>
          <a:bodyPr wrap="square" lIns="486000" tIns="360000" rIns="360000" bIns="360000" anchor="b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3200"/>
              </a:lnSpc>
              <a:spcAft>
                <a:spcPts val="64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32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B71DDCE-8584-473E-89A6-4E1C8FE4FEF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F76422-6FC9-4F77-8DC2-9370AFAFE8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BBD116-D531-4394-B940-E1E0CD4B01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49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große Headline obe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6599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11F1A574-59A7-4800-855F-6C927C3EF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3323596"/>
            <a:ext cx="11712575" cy="2661279"/>
          </a:xfrm>
          <a:noFill/>
        </p:spPr>
        <p:txBody>
          <a:bodyPr wrap="square" lIns="486000" tIns="360000" rIns="360000" bIns="360000" anchor="b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20"/>
              </a:lnSpc>
              <a:spcAft>
                <a:spcPts val="160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6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32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 err="1"/>
              <a:t>Subline</a:t>
            </a:r>
            <a:r>
              <a:rPr lang="de-DE" dirty="0"/>
              <a:t>/Referent/Datum</a:t>
            </a:r>
          </a:p>
          <a:p>
            <a:pPr lvl="3"/>
            <a:r>
              <a:rPr lang="de-DE" dirty="0"/>
              <a:t>Referenten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C68886-21F8-4FFB-8201-7F0BA6565D6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BD0276-DAC0-4256-A958-3D3DD10E633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696E82-453E-4196-8BCD-BF982D2641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40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–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5B6287E-4A4F-4439-B422-A23539B268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060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5B6287E-4A4F-4439-B422-A23539B268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3168385-808A-40CF-ACBB-25E2FEB39C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158116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9FA541-8597-4991-9A2A-D86D39840E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5388" y="3149600"/>
            <a:ext cx="5916612" cy="2177878"/>
          </a:xfrm>
          <a:gradFill flip="none" rotWithShape="1">
            <a:gsLst>
              <a:gs pos="34000">
                <a:srgbClr val="00779A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360000" tIns="360000" rIns="360000" bIns="360000"/>
          <a:lstStyle>
            <a:lvl1pPr>
              <a:lnSpc>
                <a:spcPct val="11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20"/>
              </a:lnSpc>
              <a:spcAft>
                <a:spcPts val="1600"/>
              </a:spcAft>
              <a:defRPr sz="4160" b="1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Zahl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Kapitelüberschrift, Frutiger LT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, 16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CA94CF4-7D7D-4A16-808E-9BB3F11A79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6BEEC3F-C136-4E04-8E02-6DF963A6E721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2" name="Copyright Fraunhofer">
            <a:extLst>
              <a:ext uri="{FF2B5EF4-FFF2-40B4-BE49-F238E27FC236}">
                <a16:creationId xmlns:a16="http://schemas.microsoft.com/office/drawing/2014/main" id="{86A8951A-7642-4D31-B686-A714C8CCF5F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9DE5828C-86B5-43E8-99E0-320BB3D4C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303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– Bild 2/3 randabfa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5B6287E-4A4F-4439-B422-A23539B268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33059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5B6287E-4A4F-4439-B422-A23539B268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3168385-808A-40CF-ACBB-25E2FEB39C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700213"/>
            <a:ext cx="6794500" cy="4457904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9FA541-8597-4991-9A2A-D86D39840E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5388" y="3149600"/>
            <a:ext cx="5916612" cy="2176723"/>
          </a:xfrm>
          <a:gradFill flip="none" rotWithShape="1">
            <a:gsLst>
              <a:gs pos="34000">
                <a:srgbClr val="00779A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360000" tIns="360000" rIns="360000" bIns="360000"/>
          <a:lstStyle>
            <a:lvl1pPr>
              <a:lnSpc>
                <a:spcPct val="11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20"/>
              </a:lnSpc>
              <a:spcAft>
                <a:spcPts val="1600"/>
              </a:spcAft>
              <a:defRPr sz="4160" b="1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Zahl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LT Com 65 Bold" panose="020B0803030504020204" pitchFamily="34" charset="0"/>
                <a:ea typeface="+mn-ea"/>
                <a:cs typeface="+mn-cs"/>
              </a:rPr>
              <a:t>Kapitelüberschrift, Frutiger LT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LT Com 65 Bold" panose="020B0803030504020204" pitchFamily="34" charset="0"/>
                <a:ea typeface="+mn-ea"/>
                <a:cs typeface="+mn-cs"/>
              </a:rPr>
              <a:t>Com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LT Com 65 Bold" panose="020B0803030504020204" pitchFamily="34" charset="0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LT Com 65 Bold" panose="020B0803030504020204" pitchFamily="34" charset="0"/>
                <a:ea typeface="+mn-ea"/>
                <a:cs typeface="+mn-cs"/>
              </a:rPr>
              <a:t>Bold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LT Com 65 Bold" panose="020B0803030504020204" pitchFamily="34" charset="0"/>
                <a:ea typeface="+mn-ea"/>
                <a:cs typeface="+mn-cs"/>
              </a:rPr>
              <a:t>, 16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LT Com 65 Bold" panose="020B0803030504020204" pitchFamily="34" charset="0"/>
                <a:ea typeface="+mn-ea"/>
                <a:cs typeface="+mn-cs"/>
              </a:rPr>
              <a:t>pt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EB97AB-0648-4C20-81AF-315192BB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CF3FD1A-1D27-41F1-9CA0-1DB93D823FF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79119F-C342-4DBA-9211-F4375B7FF2D1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1" name="Copyright Fraunhofer">
            <a:extLst>
              <a:ext uri="{FF2B5EF4-FFF2-40B4-BE49-F238E27FC236}">
                <a16:creationId xmlns:a16="http://schemas.microsoft.com/office/drawing/2014/main" id="{E2CAD830-41D2-49E6-9A6C-8B30840C61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1C2822D-ACBC-46C4-BC5F-37D1A4BC04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49B4F5-3985-40FA-BB6F-4069C03E55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 b="0">
                <a:solidFill>
                  <a:schemeClr val="accent2"/>
                </a:solidFill>
                <a:latin typeface="+mn-lt"/>
              </a:defRPr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3413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– Beschreibun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5B6287E-4A4F-4439-B422-A23539B268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322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5B6287E-4A4F-4439-B422-A23539B268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3168385-808A-40CF-ACBB-25E2FEB39C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4" y="1700213"/>
            <a:ext cx="6315075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9FA541-8597-4991-9A2A-D86D39840E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5388" y="3149600"/>
            <a:ext cx="5916612" cy="1622533"/>
          </a:xfrm>
          <a:gradFill flip="none" rotWithShape="1">
            <a:gsLst>
              <a:gs pos="34000">
                <a:srgbClr val="1C768F">
                  <a:alpha val="94902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360000" tIns="360000" rIns="360000" bIns="360000"/>
          <a:lstStyle>
            <a:lvl1pPr>
              <a:lnSpc>
                <a:spcPct val="11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  <a:lvl2pPr>
              <a:lnSpc>
                <a:spcPts val="2420"/>
              </a:lnSpc>
              <a:spcAft>
                <a:spcPts val="0"/>
              </a:spcAft>
              <a:defRPr sz="2860" b="1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defRPr sz="1600"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Kapitelüberschrift, Frutiger </a:t>
            </a:r>
            <a:r>
              <a:rPr lang="de-DE" dirty="0" err="1"/>
              <a:t>Bold</a:t>
            </a:r>
            <a:r>
              <a:rPr lang="de-DE" dirty="0"/>
              <a:t> 20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Frutiger LT </a:t>
            </a:r>
            <a:r>
              <a:rPr lang="de-DE" dirty="0" err="1"/>
              <a:t>Com</a:t>
            </a:r>
            <a:r>
              <a:rPr lang="de-DE" dirty="0"/>
              <a:t> Light 16 </a:t>
            </a:r>
            <a:r>
              <a:rPr lang="de-DE" dirty="0" err="1"/>
              <a:t>pt</a:t>
            </a:r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EB97AB-0648-4C20-81AF-315192BB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57475347-60C7-4275-87BB-E0A043A5396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C469E6C-F598-4F80-AB6C-46A0783E2A2E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1" name="Copyright Fraunhofer">
            <a:extLst>
              <a:ext uri="{FF2B5EF4-FFF2-40B4-BE49-F238E27FC236}">
                <a16:creationId xmlns:a16="http://schemas.microsoft.com/office/drawing/2014/main" id="{262368A1-9617-47E7-A038-2429D8109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CAF98EC-E908-46DA-A386-F0D4232D418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00B162-5CE1-4081-9F76-7824B5C171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091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mit Beschreib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F8DCC3F-E343-4E3F-B16A-B6051F15F1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0015" b="18610"/>
          <a:stretch/>
        </p:blipFill>
        <p:spPr>
          <a:xfrm>
            <a:off x="0" y="1"/>
            <a:ext cx="12192000" cy="6151957"/>
          </a:xfrm>
          <a:prstGeom prst="rect">
            <a:avLst/>
          </a:prstGeom>
        </p:spPr>
      </p:pic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6657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198" y="1999174"/>
            <a:ext cx="7346583" cy="1731243"/>
          </a:xfrm>
          <a:noFill/>
        </p:spPr>
        <p:txBody>
          <a:bodyPr wrap="square" lIns="0" tIns="0" rIns="0" bIns="0" anchor="t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3200"/>
              </a:lnSpc>
              <a:spcAft>
                <a:spcPts val="640"/>
              </a:spcAft>
              <a:defRPr sz="4160" b="1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Kapitelnummer 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</a:t>
            </a:r>
            <a:br>
              <a:rPr lang="de-DE" dirty="0"/>
            </a:br>
            <a:r>
              <a:rPr lang="de-DE" dirty="0"/>
              <a:t>32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75AC2F-D644-43D9-B982-47D14AE506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4F662B-8B67-467B-B579-81B65A21735B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6" name="Copyright Fraunhofer">
            <a:extLst>
              <a:ext uri="{FF2B5EF4-FFF2-40B4-BE49-F238E27FC236}">
                <a16:creationId xmlns:a16="http://schemas.microsoft.com/office/drawing/2014/main" id="{F09CF1CB-7C21-4B1B-8641-DD8AC9A83C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AB71B0-9D5B-4CFF-97F3-7D9E421F2D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969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mit Beschreib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824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0EB8D40A-176A-4C73-94E8-E4F599039B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158116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198" y="1999174"/>
            <a:ext cx="7346585" cy="1731243"/>
          </a:xfrm>
          <a:noFill/>
        </p:spPr>
        <p:txBody>
          <a:bodyPr wrap="square" lIns="0" tIns="0" rIns="0" bIns="0" anchor="t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3200"/>
              </a:lnSpc>
              <a:spcAft>
                <a:spcPts val="640"/>
              </a:spcAft>
              <a:defRPr sz="4160" b="1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Kapitelnummer 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Headline groß, Frutiger LT </a:t>
            </a:r>
            <a:r>
              <a:rPr lang="de-DE" dirty="0" err="1"/>
              <a:t>Com</a:t>
            </a:r>
            <a:r>
              <a:rPr lang="de-DE" dirty="0"/>
              <a:t> Light, </a:t>
            </a:r>
            <a:br>
              <a:rPr lang="de-DE" dirty="0"/>
            </a:br>
            <a:r>
              <a:rPr lang="de-DE" dirty="0"/>
              <a:t>32 </a:t>
            </a:r>
            <a:r>
              <a:rPr lang="de-DE" dirty="0" err="1"/>
              <a:t>pt</a:t>
            </a:r>
            <a:r>
              <a:rPr lang="de-DE" dirty="0"/>
              <a:t>,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AD05C7-382B-438D-B349-2F1CC8C2BCC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088260-380C-400E-94F1-80576C9596AC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6" name="Copyright Fraunhofer">
            <a:extLst>
              <a:ext uri="{FF2B5EF4-FFF2-40B4-BE49-F238E27FC236}">
                <a16:creationId xmlns:a16="http://schemas.microsoft.com/office/drawing/2014/main" id="{F4113842-5E3F-4997-8349-B76EB457E5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428535-A26E-4A75-A2D0-95960DB6BC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60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2C7AF347-EE19-4A49-ACB3-3F7316F7E1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2164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2C7AF347-EE19-4A49-ACB3-3F7316F7E1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DBBD9DA-78F9-4E62-A16F-A3EAEE48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2951-09AD-4688-B783-DAE1ADDED63E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9" name="Copyright Fraunhofer">
            <a:extLst>
              <a:ext uri="{FF2B5EF4-FFF2-40B4-BE49-F238E27FC236}">
                <a16:creationId xmlns:a16="http://schemas.microsoft.com/office/drawing/2014/main" id="{68024DD5-D614-4E40-8330-76F9312A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4063AB9-A95E-44E6-BF4C-CF298331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4FD133-02A3-4CCE-886B-5D61839C10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A89D932-8DCF-4ABE-8120-3CC2C601E5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5437188" cy="2640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7715D3E-BD63-49BD-96CA-087D6CFC2D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5388" y="1703388"/>
            <a:ext cx="5437187" cy="2640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542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9BFEDD4-0A61-4DAA-847E-5542C0836B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7003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9BFEDD4-0A61-4DAA-847E-5542C0836B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A3A3249-3413-4CB5-A695-6373FE34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25054-8F4D-4B67-8803-E473E83FD8A6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8" name="Copyright Fraunhofer">
            <a:extLst>
              <a:ext uri="{FF2B5EF4-FFF2-40B4-BE49-F238E27FC236}">
                <a16:creationId xmlns:a16="http://schemas.microsoft.com/office/drawing/2014/main" id="{97173DEC-80BC-41B9-97B7-7718E8E27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BA71267-E3FD-4A93-BE1B-8DD36105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1153CC-8B9B-4F23-A87D-CDC7D540D2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/>
              <a:t>Subline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AA71AE-8A22-4F1C-8598-F96615B92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3492500" cy="2640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F587FD1-7E1D-43C5-AEEB-11FB82BEE6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32288" y="1703388"/>
            <a:ext cx="3492500" cy="2640595"/>
          </a:xfrm>
        </p:spPr>
        <p:txBody>
          <a:bodyPr/>
          <a:lstStyle>
            <a:lvl9pPr>
              <a:buAutoNum type="arabicPeriod"/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D288D47-B1E2-4566-B8EC-6D108A6952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0075" y="1703388"/>
            <a:ext cx="3492500" cy="27400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218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02" userDrawn="1">
          <p15:clr>
            <a:srgbClr val="FBAE40"/>
          </p15:clr>
        </p15:guide>
        <p15:guide id="2" pos="2729" userDrawn="1">
          <p15:clr>
            <a:srgbClr val="FBAE40"/>
          </p15:clr>
        </p15:guide>
        <p15:guide id="3" pos="4929" userDrawn="1">
          <p15:clr>
            <a:srgbClr val="FBAE40"/>
          </p15:clr>
        </p15:guide>
        <p15:guide id="4" pos="517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4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2C7AF347-EE19-4A49-ACB3-3F7316F7E1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7879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2C7AF347-EE19-4A49-ACB3-3F7316F7E1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61F0DBA5-C1B0-44DC-A359-F53055D1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3568-9F39-45BA-8ABC-B5488CC74074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3" name="Copyright Fraunhofer">
            <a:extLst>
              <a:ext uri="{FF2B5EF4-FFF2-40B4-BE49-F238E27FC236}">
                <a16:creationId xmlns:a16="http://schemas.microsoft.com/office/drawing/2014/main" id="{3A411D1E-2AF9-4CC5-AEC7-0C6DF157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828F296-FF06-4CDF-A47F-F729AA31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C0110F-2625-4571-AE19-B8D78EAA1F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EF34A9-6B75-4492-8A12-35A87E55C8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2520950" cy="293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E310D88-98AF-4753-BFFB-0D7937A972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5663" y="1703388"/>
            <a:ext cx="2520950" cy="29114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BED3F47-FB9A-471A-8A6D-C6AC2320A9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75388" y="1703388"/>
            <a:ext cx="2520950" cy="29114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4C0EBAA-DEB8-42ED-9FF0-97A1433AEB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91625" y="1703388"/>
            <a:ext cx="2520950" cy="29114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7060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  <p15:guide id="3" pos="2139" userDrawn="1">
          <p15:clr>
            <a:srgbClr val="FBAE40"/>
          </p15:clr>
        </p15:guide>
        <p15:guide id="4" pos="1890" userDrawn="1">
          <p15:clr>
            <a:srgbClr val="FBAE40"/>
          </p15:clr>
        </p15:guide>
        <p15:guide id="5" pos="5541" userDrawn="1">
          <p15:clr>
            <a:srgbClr val="FBAE40"/>
          </p15:clr>
        </p15:guide>
        <p15:guide id="6" pos="579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33CE2A8B-DF0C-4ED8-B188-C82210FB66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40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33CE2A8B-DF0C-4ED8-B188-C82210FB66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2593715C-3DC0-4E6F-AC38-9875A9DF0C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5388" y="0"/>
            <a:ext cx="5916612" cy="6158116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EB5820C-E708-4B83-B2D5-A17747D22E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047F9E9-11D7-474D-A6DA-3492ADD97332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1" name="Copyright Fraunhofer">
            <a:extLst>
              <a:ext uri="{FF2B5EF4-FFF2-40B4-BE49-F238E27FC236}">
                <a16:creationId xmlns:a16="http://schemas.microsoft.com/office/drawing/2014/main" id="{D2144230-B8EC-476B-931A-D0CD27889E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1FBFD26-99E1-4A8F-A74A-F6ADF2E2D8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6DB4C6-EB43-4DAF-85FB-3D5502FB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5588"/>
            <a:ext cx="5437188" cy="382733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238F142-8C02-4935-B629-B6251A26C1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778321"/>
            <a:ext cx="5437188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4FD108-BE77-4119-8953-7B3B60E98A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199" y="1703388"/>
            <a:ext cx="5437188" cy="2640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8808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3 Spalte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D3ED57BE-37A9-4D96-8E88-2396C11862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1807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D3ED57BE-37A9-4D96-8E88-2396C11862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1458B9F-36A1-41C9-BED5-48660CBF7B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0075" y="0"/>
            <a:ext cx="3971925" cy="6158116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A55FE10-1600-4EC9-BD53-2AD0F1FF5A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09DD79-ED55-4B70-88EA-06391A367C88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1" name="Copyright Fraunhofer">
            <a:extLst>
              <a:ext uri="{FF2B5EF4-FFF2-40B4-BE49-F238E27FC236}">
                <a16:creationId xmlns:a16="http://schemas.microsoft.com/office/drawing/2014/main" id="{3F46C379-14E1-4C3E-81B3-2514BD91D65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983DEDE-C1BC-4CFF-B990-BF9CE174A5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CF28B4-14C0-46CF-91E6-E56862CB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5588"/>
            <a:ext cx="7345363" cy="382733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E1F331-B496-4BC0-8505-F35F3C57A2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778321"/>
            <a:ext cx="7345363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813626-B371-440A-B685-32C7597133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199" y="1703388"/>
            <a:ext cx="3492500" cy="2640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D2D81B-2964-4DEB-9973-66C95A1B00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32288" y="1703388"/>
            <a:ext cx="3492500" cy="261937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584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02" userDrawn="1">
          <p15:clr>
            <a:srgbClr val="FBAE40"/>
          </p15:clr>
        </p15:guide>
        <p15:guide id="2" pos="2729" userDrawn="1">
          <p15:clr>
            <a:srgbClr val="FBAE40"/>
          </p15:clr>
        </p15:guide>
        <p15:guide id="3" pos="4929" userDrawn="1">
          <p15:clr>
            <a:srgbClr val="FBAE40"/>
          </p15:clr>
        </p15:guide>
        <p15:guide id="4" pos="517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1 Spalte | klein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>
            <a:extLst>
              <a:ext uri="{FF2B5EF4-FFF2-40B4-BE49-F238E27FC236}">
                <a16:creationId xmlns:a16="http://schemas.microsoft.com/office/drawing/2014/main" id="{73EB3F1D-68CC-4D42-88C6-FD85199577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1608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1" name="Objekt 10" hidden="1">
                        <a:extLst>
                          <a:ext uri="{FF2B5EF4-FFF2-40B4-BE49-F238E27FC236}">
                            <a16:creationId xmlns:a16="http://schemas.microsoft.com/office/drawing/2014/main" id="{73EB3F1D-68CC-4D42-88C6-FD8519957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42AEA7-0D8C-4AD8-8EEC-63FF8206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8" name="Copyright Fraunhofer">
            <a:extLst>
              <a:ext uri="{FF2B5EF4-FFF2-40B4-BE49-F238E27FC236}">
                <a16:creationId xmlns:a16="http://schemas.microsoft.com/office/drawing/2014/main" id="{3BFD0A8D-1DCE-43F0-A5E3-4221FF17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680CF9D-E06C-44A3-9743-D9D200F4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A281D1-4D07-42EA-89AA-EA4C03EDB0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5573968-5EC4-45D8-B356-9D2C25D2EC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264059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381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1 Spalte | groß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>
            <a:extLst>
              <a:ext uri="{FF2B5EF4-FFF2-40B4-BE49-F238E27FC236}">
                <a16:creationId xmlns:a16="http://schemas.microsoft.com/office/drawing/2014/main" id="{73EB3F1D-68CC-4D42-88C6-FD85199577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9292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1" name="Objekt 10" hidden="1">
                        <a:extLst>
                          <a:ext uri="{FF2B5EF4-FFF2-40B4-BE49-F238E27FC236}">
                            <a16:creationId xmlns:a16="http://schemas.microsoft.com/office/drawing/2014/main" id="{73EB3F1D-68CC-4D42-88C6-FD8519957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42AEA7-0D8C-4AD8-8EEC-63FF8206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443C-B870-41CA-8630-426F79C7DA41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8" name="Copyright Fraunhofer">
            <a:extLst>
              <a:ext uri="{FF2B5EF4-FFF2-40B4-BE49-F238E27FC236}">
                <a16:creationId xmlns:a16="http://schemas.microsoft.com/office/drawing/2014/main" id="{3BFD0A8D-1DCE-43F0-A5E3-4221FF17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680CF9D-E06C-44A3-9743-D9D200F4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A281D1-4D07-42EA-89AA-EA4C03EDB0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5573968-5EC4-45D8-B356-9D2C25D2EC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3020314"/>
          </a:xfrm>
        </p:spPr>
        <p:txBody>
          <a:bodyPr/>
          <a:lstStyle>
            <a:lvl1pPr>
              <a:spcAft>
                <a:spcPts val="2200"/>
              </a:spcAft>
              <a:defRPr sz="1800"/>
            </a:lvl1pPr>
            <a:lvl2pPr>
              <a:spcAft>
                <a:spcPts val="2200"/>
              </a:spcAft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6013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 | klein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3DC8D38B-C18B-45D1-977E-43D6AADFE7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888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3DC8D38B-C18B-45D1-977E-43D6AADFE7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28811"/>
            <a:ext cx="11233150" cy="382733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6B3DBCD-172B-459C-8C97-521B96028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700213"/>
            <a:ext cx="5437188" cy="2640595"/>
          </a:xfrm>
        </p:spPr>
        <p:txBody>
          <a:bodyPr numCol="1" spcCol="360000"/>
          <a:lstStyle>
            <a:lvl5pPr>
              <a:defRPr/>
            </a:lvl5pPr>
            <a:lvl8pPr>
              <a:buAutoNum type="arabicPeriod"/>
              <a:defRPr/>
            </a:lvl8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A80A6E1-2019-439E-8E86-0046D913F8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D9D36A6-A034-4164-BBE1-F8AE84912B9F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F3CF5D9C-18A9-4FD1-BF61-90B1DF40DA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C7C1689-11E8-41AB-9458-DE44740E23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AB49C-1F4E-4EF1-AAF8-5D9B08CE01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417600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2979DCD-35B3-46F6-8E1A-F75179508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5388" y="1700213"/>
            <a:ext cx="5437187" cy="2640595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3339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 | groß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28811"/>
            <a:ext cx="11233150" cy="382733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6B3DBCD-172B-459C-8C97-521B96028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700213"/>
            <a:ext cx="5437188" cy="3085204"/>
          </a:xfrm>
        </p:spPr>
        <p:txBody>
          <a:bodyPr numCol="1" spcCol="360000"/>
          <a:lstStyle>
            <a:lvl1pPr>
              <a:lnSpc>
                <a:spcPct val="110000"/>
              </a:lnSpc>
              <a:spcAft>
                <a:spcPts val="2200"/>
              </a:spcAft>
              <a:defRPr sz="1800"/>
            </a:lvl1pPr>
            <a:lvl2pPr>
              <a:lnSpc>
                <a:spcPct val="110000"/>
              </a:lnSpc>
              <a:spcAft>
                <a:spcPts val="2200"/>
              </a:spcAft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  <a:lvl6pPr>
              <a:lnSpc>
                <a:spcPct val="110000"/>
              </a:lnSpc>
              <a:defRPr sz="1600"/>
            </a:lvl6pPr>
            <a:lvl7pPr>
              <a:lnSpc>
                <a:spcPct val="110000"/>
              </a:lnSpc>
              <a:defRPr sz="1600"/>
            </a:lvl7pPr>
            <a:lvl8pPr>
              <a:lnSpc>
                <a:spcPct val="110000"/>
              </a:lnSpc>
              <a:buAutoNum type="arabicPeriod"/>
              <a:defRPr sz="1600"/>
            </a:lvl8pPr>
            <a:lvl9pPr>
              <a:lnSpc>
                <a:spcPct val="110000"/>
              </a:lnSpc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BE7333-2DF4-417D-84A6-4C1EC6024486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B913C0-DAEC-4E03-BE28-C93BE7F20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417600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DDE3BD-D7C5-4F7F-8E5F-2F194BD44F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5388" y="1700213"/>
            <a:ext cx="5516562" cy="3020314"/>
          </a:xfrm>
        </p:spPr>
        <p:txBody>
          <a:bodyPr numCol="1"/>
          <a:lstStyle>
            <a:lvl1pPr>
              <a:lnSpc>
                <a:spcPct val="110000"/>
              </a:lnSpc>
              <a:spcAft>
                <a:spcPts val="2200"/>
              </a:spcAft>
              <a:defRPr sz="1800"/>
            </a:lvl1pPr>
            <a:lvl2pPr>
              <a:lnSpc>
                <a:spcPct val="110000"/>
              </a:lnSpc>
              <a:spcAft>
                <a:spcPts val="2200"/>
              </a:spcAft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  <a:lvl6pPr>
              <a:lnSpc>
                <a:spcPct val="110000"/>
              </a:lnSpc>
              <a:defRPr sz="1600"/>
            </a:lvl6pPr>
            <a:lvl7pPr>
              <a:lnSpc>
                <a:spcPct val="110000"/>
              </a:lnSpc>
              <a:defRPr sz="1600"/>
            </a:lvl7pPr>
            <a:lvl8pPr>
              <a:lnSpc>
                <a:spcPct val="110000"/>
              </a:lnSpc>
              <a:defRPr sz="1600"/>
            </a:lvl8pPr>
            <a:lvl9pPr>
              <a:lnSpc>
                <a:spcPct val="110000"/>
              </a:lnSpc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527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 mit Infokas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3DC8D38B-C18B-45D1-977E-43D6AADFE7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220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3DC8D38B-C18B-45D1-977E-43D6AADFE7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6B3DBCD-172B-459C-8C97-521B96028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00213"/>
            <a:ext cx="5916613" cy="4284662"/>
          </a:xfrm>
          <a:gradFill flip="none" rotWithShape="1">
            <a:gsLst>
              <a:gs pos="34000">
                <a:srgbClr val="1E7992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288000" rIns="288000" bIns="288000" numCol="1" spcCol="360000">
            <a:noAutofit/>
          </a:bodyPr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ts val="1800"/>
              </a:lnSpc>
              <a:spcAft>
                <a:spcPts val="600"/>
              </a:spcAft>
              <a:defRPr sz="208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buAutoNum type="arabicPeriod"/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4F9B75C-F431-4271-A789-357B552F17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5388" y="1700213"/>
            <a:ext cx="5437187" cy="2777299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7C33152-44C8-4D5F-8A14-F5A77C4509A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4E2D0BE-C1C0-4F7D-8CA3-1AB441DBDBE6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E4293628-7C4E-4B40-9C44-4455388844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2CBCEFF-ED55-43F4-840E-11635FF54F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0EAC44-6B23-48D7-9382-254ECE95C3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6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5BAB6549-3007-4962-B8D4-52ECE48231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1824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5BAB6549-3007-4962-B8D4-52ECE4823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30FDEE22-4D74-4924-86C5-CF41B7A9F583}"/>
              </a:ext>
            </a:extLst>
          </p:cNvPr>
          <p:cNvSpPr/>
          <p:nvPr userDrawn="1"/>
        </p:nvSpPr>
        <p:spPr bwMode="gray">
          <a:xfrm>
            <a:off x="479425" y="1206230"/>
            <a:ext cx="473886" cy="8754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180000" indent="-180000" algn="l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ABC3893-E6D0-4680-9CDB-B7D76C158179}"/>
              </a:ext>
            </a:extLst>
          </p:cNvPr>
          <p:cNvCxnSpPr/>
          <p:nvPr userDrawn="1"/>
        </p:nvCxnSpPr>
        <p:spPr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19260903-BB55-4E18-8A26-9490D566E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826785"/>
            <a:ext cx="11233150" cy="1205330"/>
          </a:xfrm>
        </p:spPr>
        <p:txBody>
          <a:bodyPr/>
          <a:lstStyle>
            <a:lvl1pPr>
              <a:lnSpc>
                <a:spcPct val="110000"/>
              </a:lnSpc>
              <a:spcAft>
                <a:spcPts val="0"/>
              </a:spcAft>
              <a:defRPr sz="4400">
                <a:solidFill>
                  <a:schemeClr val="accent2"/>
                </a:solidFill>
                <a:latin typeface="Frutiger LT Com 65 Bold" panose="020B0803030504020204" pitchFamily="34" charset="0"/>
              </a:defRPr>
            </a:lvl1pPr>
            <a:lvl2pPr algn="r">
              <a:lnSpc>
                <a:spcPct val="110000"/>
              </a:lnSpc>
              <a:spcAft>
                <a:spcPts val="0"/>
              </a:spcAft>
              <a:defRPr sz="1400">
                <a:solidFill>
                  <a:schemeClr val="accent2"/>
                </a:solidFill>
                <a:latin typeface="+mj-lt"/>
              </a:defRPr>
            </a:lvl2pPr>
            <a:lvl3pPr algn="r">
              <a:lnSpc>
                <a:spcPct val="110000"/>
              </a:lnSpc>
              <a:spcAft>
                <a:spcPts val="0"/>
              </a:spcAft>
              <a:defRPr b="0">
                <a:solidFill>
                  <a:schemeClr val="accent2"/>
                </a:solidFill>
                <a:latin typeface="+mn-lt"/>
              </a:defRPr>
            </a:lvl3pPr>
            <a:lvl4pPr marL="0" indent="0" algn="r">
              <a:lnSpc>
                <a:spcPct val="110000"/>
              </a:lnSpc>
              <a:buNone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de-DE" dirty="0"/>
              <a:t>Zitat</a:t>
            </a:r>
          </a:p>
          <a:p>
            <a:pPr lvl="1"/>
            <a:r>
              <a:rPr lang="de-DE" dirty="0"/>
              <a:t>Name des Autors</a:t>
            </a:r>
          </a:p>
          <a:p>
            <a:pPr lvl="2"/>
            <a:r>
              <a:rPr lang="de-DE" dirty="0"/>
              <a:t>Position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30F5BB5-7863-4504-94A4-F39A72E20BF2}"/>
              </a:ext>
            </a:extLst>
          </p:cNvPr>
          <p:cNvGrpSpPr/>
          <p:nvPr userDrawn="1"/>
        </p:nvGrpSpPr>
        <p:grpSpPr>
          <a:xfrm>
            <a:off x="621507" y="476249"/>
            <a:ext cx="1266824" cy="1028701"/>
            <a:chOff x="621507" y="476249"/>
            <a:chExt cx="1266824" cy="1028701"/>
          </a:xfrm>
        </p:grpSpPr>
        <p:sp>
          <p:nvSpPr>
            <p:cNvPr id="3" name="Pfeil: Chevron 2">
              <a:extLst>
                <a:ext uri="{FF2B5EF4-FFF2-40B4-BE49-F238E27FC236}">
                  <a16:creationId xmlns:a16="http://schemas.microsoft.com/office/drawing/2014/main" id="{80955E3B-8357-4836-8592-3039D01F1391}"/>
                </a:ext>
              </a:extLst>
            </p:cNvPr>
            <p:cNvSpPr/>
            <p:nvPr userDrawn="1"/>
          </p:nvSpPr>
          <p:spPr>
            <a:xfrm>
              <a:off x="621507" y="476249"/>
              <a:ext cx="671512" cy="1028701"/>
            </a:xfrm>
            <a:prstGeom prst="chevron">
              <a:avLst>
                <a:gd name="adj" fmla="val 42908"/>
              </a:avLst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Pfeil: Chevron 18">
              <a:extLst>
                <a:ext uri="{FF2B5EF4-FFF2-40B4-BE49-F238E27FC236}">
                  <a16:creationId xmlns:a16="http://schemas.microsoft.com/office/drawing/2014/main" id="{8245CA0A-C731-43B3-A4D1-99935FA2DE2F}"/>
                </a:ext>
              </a:extLst>
            </p:cNvPr>
            <p:cNvSpPr/>
            <p:nvPr userDrawn="1"/>
          </p:nvSpPr>
          <p:spPr>
            <a:xfrm>
              <a:off x="1216819" y="476249"/>
              <a:ext cx="671512" cy="1028701"/>
            </a:xfrm>
            <a:prstGeom prst="chevron">
              <a:avLst>
                <a:gd name="adj" fmla="val 42908"/>
              </a:avLst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285A88-12D6-4461-A4C7-1D177C10FE4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C3B39-287A-4DC2-86D1-47762D2F82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A36F7860-0DEC-4D26-A4CA-9345FD189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22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5BAB6549-3007-4962-B8D4-52ECE48231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57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5BAB6549-3007-4962-B8D4-52ECE4823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ABC3893-E6D0-4680-9CDB-B7D76C158179}"/>
              </a:ext>
            </a:extLst>
          </p:cNvPr>
          <p:cNvCxnSpPr/>
          <p:nvPr userDrawn="1"/>
        </p:nvCxnSpPr>
        <p:spPr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fik 18">
            <a:extLst>
              <a:ext uri="{FF2B5EF4-FFF2-40B4-BE49-F238E27FC236}">
                <a16:creationId xmlns:a16="http://schemas.microsoft.com/office/drawing/2014/main" id="{A5AD49B5-73A6-4C2A-8588-DD0F89436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0015" b="18624"/>
          <a:stretch/>
        </p:blipFill>
        <p:spPr>
          <a:xfrm>
            <a:off x="0" y="2"/>
            <a:ext cx="12192000" cy="6150768"/>
          </a:xfrm>
          <a:prstGeom prst="rect">
            <a:avLst/>
          </a:prstGeom>
        </p:spPr>
      </p:pic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19260903-BB55-4E18-8A26-9490D566E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826785"/>
            <a:ext cx="11233150" cy="1205330"/>
          </a:xfrm>
        </p:spPr>
        <p:txBody>
          <a:bodyPr/>
          <a:lstStyle>
            <a:lvl1pPr>
              <a:lnSpc>
                <a:spcPct val="110000"/>
              </a:lnSpc>
              <a:spcAft>
                <a:spcPts val="0"/>
              </a:spcAft>
              <a:defRPr sz="4400">
                <a:solidFill>
                  <a:schemeClr val="bg1"/>
                </a:solidFill>
                <a:latin typeface="Frutiger LT Com 65 Bold" panose="020B0803030504020204" pitchFamily="34" charset="0"/>
              </a:defRPr>
            </a:lvl1pPr>
            <a:lvl2pPr algn="r">
              <a:lnSpc>
                <a:spcPct val="1100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 algn="r">
              <a:lnSpc>
                <a:spcPct val="110000"/>
              </a:lnSpc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 marL="0" indent="0" algn="r">
              <a:lnSpc>
                <a:spcPct val="110000"/>
              </a:lnSpc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Zitat</a:t>
            </a:r>
          </a:p>
          <a:p>
            <a:pPr lvl="1"/>
            <a:r>
              <a:rPr lang="de-DE" dirty="0"/>
              <a:t>Name des Autors</a:t>
            </a:r>
          </a:p>
          <a:p>
            <a:pPr lvl="2"/>
            <a:r>
              <a:rPr lang="de-DE" dirty="0"/>
              <a:t>Position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E2E23E-A04B-4A3C-9731-269F09B361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E324B6-D7C2-429F-9563-54E4F47990AC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17" name="Copyright Fraunhofer">
            <a:extLst>
              <a:ext uri="{FF2B5EF4-FFF2-40B4-BE49-F238E27FC236}">
                <a16:creationId xmlns:a16="http://schemas.microsoft.com/office/drawing/2014/main" id="{7BF1A88B-92B6-448D-B293-70A607B265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9320B56D-3BA0-4D7D-91B3-67F9A11E4A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42B2AF3-B72B-4E51-98E8-276E33E081FB}"/>
              </a:ext>
            </a:extLst>
          </p:cNvPr>
          <p:cNvGrpSpPr/>
          <p:nvPr userDrawn="1"/>
        </p:nvGrpSpPr>
        <p:grpSpPr>
          <a:xfrm>
            <a:off x="621507" y="476249"/>
            <a:ext cx="1266824" cy="1028701"/>
            <a:chOff x="621507" y="476249"/>
            <a:chExt cx="1266824" cy="1028701"/>
          </a:xfrm>
          <a:solidFill>
            <a:schemeClr val="bg1"/>
          </a:solidFill>
        </p:grpSpPr>
        <p:sp>
          <p:nvSpPr>
            <p:cNvPr id="21" name="Pfeil: Chevron 20">
              <a:extLst>
                <a:ext uri="{FF2B5EF4-FFF2-40B4-BE49-F238E27FC236}">
                  <a16:creationId xmlns:a16="http://schemas.microsoft.com/office/drawing/2014/main" id="{A9E48764-AC81-446C-B62C-88A8F03B3803}"/>
                </a:ext>
              </a:extLst>
            </p:cNvPr>
            <p:cNvSpPr/>
            <p:nvPr userDrawn="1"/>
          </p:nvSpPr>
          <p:spPr>
            <a:xfrm>
              <a:off x="621507" y="476249"/>
              <a:ext cx="671512" cy="1028701"/>
            </a:xfrm>
            <a:prstGeom prst="chevron">
              <a:avLst>
                <a:gd name="adj" fmla="val 42908"/>
              </a:avLst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Pfeil: Chevron 21">
              <a:extLst>
                <a:ext uri="{FF2B5EF4-FFF2-40B4-BE49-F238E27FC236}">
                  <a16:creationId xmlns:a16="http://schemas.microsoft.com/office/drawing/2014/main" id="{14C3BCAC-351B-4AFA-8D18-F61D609E40E4}"/>
                </a:ext>
              </a:extLst>
            </p:cNvPr>
            <p:cNvSpPr/>
            <p:nvPr userDrawn="1"/>
          </p:nvSpPr>
          <p:spPr>
            <a:xfrm>
              <a:off x="1216819" y="476249"/>
              <a:ext cx="671512" cy="1028701"/>
            </a:xfrm>
            <a:prstGeom prst="chevron">
              <a:avLst>
                <a:gd name="adj" fmla="val 42908"/>
              </a:avLst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162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folie –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67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2952020"/>
            <a:ext cx="5916612" cy="3388337"/>
          </a:xfrm>
          <a:gradFill flip="none" rotWithShape="1">
            <a:gsLst>
              <a:gs pos="34114">
                <a:srgbClr val="00779A"/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360000" rIns="360000" bIns="360000" anchor="t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00"/>
              </a:lnSpc>
              <a:spcAft>
                <a:spcPts val="160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Kontakt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Titel Vorname Name</a:t>
            </a:r>
          </a:p>
          <a:p>
            <a:pPr lvl="2"/>
            <a:r>
              <a:rPr lang="de-DE" dirty="0"/>
              <a:t>Geschäftsbereich XXX</a:t>
            </a:r>
          </a:p>
          <a:p>
            <a:pPr lvl="2"/>
            <a:r>
              <a:rPr lang="de-DE" dirty="0"/>
              <a:t>Tel. +49 12 3456-XXXX</a:t>
            </a:r>
          </a:p>
          <a:p>
            <a:pPr lvl="2"/>
            <a:r>
              <a:rPr lang="de-DE" dirty="0"/>
              <a:t>Fax +49 12 3456-XXXX</a:t>
            </a:r>
          </a:p>
          <a:p>
            <a:pPr lvl="2"/>
            <a:r>
              <a:rPr lang="de-DE" dirty="0"/>
              <a:t>vorname.name@fraunhofer.de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09F1F2-5AE7-4500-87D3-FAD916B3136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9D760A-5328-4251-ACFF-CB470EE3471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FC189F-C42A-4071-BC47-28A29172D1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9023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folie – Bild ha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43079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572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2952020"/>
            <a:ext cx="5916612" cy="3388337"/>
          </a:xfrm>
          <a:gradFill flip="none" rotWithShape="1">
            <a:gsLst>
              <a:gs pos="34000">
                <a:srgbClr val="00779A"/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360000" rIns="360000" bIns="360000" anchor="t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00"/>
              </a:lnSpc>
              <a:spcAft>
                <a:spcPts val="160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Kontakt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Titel Vorname Name</a:t>
            </a:r>
          </a:p>
          <a:p>
            <a:pPr lvl="2"/>
            <a:r>
              <a:rPr lang="de-DE" dirty="0"/>
              <a:t>Geschäftsbereich XXX</a:t>
            </a:r>
          </a:p>
          <a:p>
            <a:pPr lvl="2"/>
            <a:r>
              <a:rPr lang="de-DE" dirty="0"/>
              <a:t>Tel. +49 12 3456-XXXX</a:t>
            </a:r>
          </a:p>
          <a:p>
            <a:pPr lvl="2"/>
            <a:r>
              <a:rPr lang="de-DE" dirty="0"/>
              <a:t>Fax +49 12 3456-XXXX</a:t>
            </a:r>
          </a:p>
          <a:p>
            <a:pPr lvl="2"/>
            <a:r>
              <a:rPr lang="de-DE" dirty="0"/>
              <a:t>vorname.name@fraunhofer.de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3F48CE-72D6-4312-9E4E-63E50B50038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83046E-333C-49E5-BC21-4B96362580A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6BEE77-0380-4FD0-A81C-71B6A50C651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01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folie –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F197DE11-A966-449E-A5FD-31979AF345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0014" b="10419"/>
          <a:stretch/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31679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700213"/>
            <a:ext cx="5916612" cy="3848489"/>
          </a:xfrm>
          <a:noFill/>
        </p:spPr>
        <p:txBody>
          <a:bodyPr lIns="0" tIns="0" rIns="0" bIns="0" anchor="t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00"/>
              </a:lnSpc>
              <a:spcAft>
                <a:spcPts val="160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Kontakt</a:t>
            </a:r>
          </a:p>
          <a:p>
            <a:pPr lvl="1"/>
            <a:r>
              <a:rPr lang="de-DE" dirty="0"/>
              <a:t>—</a:t>
            </a:r>
          </a:p>
          <a:p>
            <a:pPr lvl="2"/>
            <a:r>
              <a:rPr lang="de-DE" dirty="0"/>
              <a:t>Titel Vorname Name</a:t>
            </a:r>
          </a:p>
          <a:p>
            <a:pPr lvl="2"/>
            <a:r>
              <a:rPr lang="de-DE" dirty="0"/>
              <a:t>Geschäftsbereich XXX</a:t>
            </a:r>
          </a:p>
          <a:p>
            <a:pPr lvl="2"/>
            <a:r>
              <a:rPr lang="de-DE" dirty="0"/>
              <a:t>Tel. +49 12 3456-XXXX</a:t>
            </a:r>
          </a:p>
          <a:p>
            <a:pPr lvl="2"/>
            <a:r>
              <a:rPr lang="de-DE" dirty="0"/>
              <a:t>Fax +49 12 3456-XXXX</a:t>
            </a:r>
          </a:p>
          <a:p>
            <a:pPr lvl="2"/>
            <a:r>
              <a:rPr lang="de-DE" dirty="0"/>
              <a:t>vorname.name@fraunhofer.de</a:t>
            </a:r>
          </a:p>
          <a:p>
            <a:pPr lvl="3"/>
            <a:endParaRPr lang="pt-BR" dirty="0"/>
          </a:p>
          <a:p>
            <a:pPr lvl="3"/>
            <a:r>
              <a:rPr lang="pt-BR" dirty="0"/>
              <a:t>Fraunhofer XYZ</a:t>
            </a:r>
          </a:p>
          <a:p>
            <a:pPr lvl="3"/>
            <a:r>
              <a:rPr lang="pt-BR" dirty="0"/>
              <a:t>Straße XY</a:t>
            </a:r>
          </a:p>
          <a:p>
            <a:pPr lvl="3"/>
            <a:r>
              <a:rPr lang="pt-BR" dirty="0"/>
              <a:t>12345 Stadt</a:t>
            </a:r>
          </a:p>
          <a:p>
            <a:pPr lvl="3"/>
            <a:r>
              <a:rPr lang="pt-BR" dirty="0"/>
              <a:t>www.fraunhofer.de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313C52-2525-4A5D-916B-98841273CAD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19F9CA-C990-4FAF-BBA2-C37D042E4FF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B3BB0E-EF1D-44E5-9391-ED9E79F83DB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3431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2081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11F1A574-59A7-4800-855F-6C927C3EF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2255355"/>
            <a:ext cx="11233149" cy="2998000"/>
          </a:xfrm>
          <a:noFill/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66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7200"/>
              </a:lnSpc>
              <a:spcAft>
                <a:spcPts val="1600"/>
              </a:spcAft>
              <a:defRPr sz="858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ts val="2080"/>
              </a:lnSpc>
              <a:spcAft>
                <a:spcPts val="0"/>
              </a:spcAft>
              <a:defRPr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Vielen Dank für Ihre Aufmerksamkeit</a:t>
            </a:r>
          </a:p>
          <a:p>
            <a:pPr lvl="1"/>
            <a:r>
              <a:rPr lang="de-DE" dirty="0"/>
              <a:t>—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614564-45F3-43F4-A781-81B474E1C11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B5AC9A-7737-4C1C-B583-AD4EA4DAE9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919D1C-ADAC-4933-80BD-01165FF9D27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74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507918F-B2AA-4A76-81D6-4E27E906E3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2565214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2" imgW="344" imgH="345" progId="TCLayout.ActiveDocument.1">
                  <p:embed/>
                </p:oleObj>
              </mc:Choice>
              <mc:Fallback>
                <p:oleObj name="think-cell Folie" r:id="rId32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507918F-B2AA-4A76-81D6-4E27E906E3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78C480-B66C-43DB-AAEB-3790EF5A76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 noProof="0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ED48EE-75FC-48CE-8886-5B06675925EC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78199" y="1703388"/>
            <a:ext cx="11234376" cy="264059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4" name="Datumsplatzhalter">
            <a:extLst>
              <a:ext uri="{FF2B5EF4-FFF2-40B4-BE49-F238E27FC236}">
                <a16:creationId xmlns:a16="http://schemas.microsoft.com/office/drawing/2014/main" id="{F9CDF1F4-2065-4A60-8377-ED9014CA8CBB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388048" y="6455836"/>
            <a:ext cx="720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18404E2F-0DC3-491D-BBFF-E567024868D0}" type="datetime1">
              <a:rPr lang="de-DE" noProof="0" smtClean="0"/>
              <a:t>29.06.2025</a:t>
            </a:fld>
            <a:endParaRPr lang="de-DE" noProof="0" dirty="0"/>
          </a:p>
        </p:txBody>
      </p:sp>
      <p:sp>
        <p:nvSpPr>
          <p:cNvPr id="5" name="Copyright Fraunhofer">
            <a:extLst>
              <a:ext uri="{FF2B5EF4-FFF2-40B4-BE49-F238E27FC236}">
                <a16:creationId xmlns:a16="http://schemas.microsoft.com/office/drawing/2014/main" id="{5FF3544A-E0F0-4101-A728-3DFB567F7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297897" y="6455836"/>
            <a:ext cx="29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noProof="0"/>
              <a:t>© Fraunhofer IESE</a:t>
            </a:r>
            <a:endParaRPr lang="de-DE" noProof="0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D49F1F8-4B89-4B18-B579-CD843138501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79425" y="1245411"/>
            <a:ext cx="360000" cy="0"/>
          </a:xfrm>
          <a:prstGeom prst="line">
            <a:avLst/>
          </a:prstGeom>
          <a:noFill/>
          <a:ln w="508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86070D71-EE9E-4293-96A3-C2A0A07F7A62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Informationsklassifizierung">
            <a:extLst>
              <a:ext uri="{FF2B5EF4-FFF2-40B4-BE49-F238E27FC236}">
                <a16:creationId xmlns:a16="http://schemas.microsoft.com/office/drawing/2014/main" id="{6C489D0F-950D-4913-86C7-7EB1061786F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373847" y="6455836"/>
            <a:ext cx="1444306" cy="12311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800" b="1">
                <a:latin typeface="+mj-lt"/>
              </a:rPr>
              <a:t>Confidential</a:t>
            </a:r>
            <a:endParaRPr lang="en-US" sz="800" b="1" dirty="0">
              <a:latin typeface="+mj-lt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3FFAE78-FC0D-4DC3-A58F-888E658BE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425" y="6455836"/>
            <a:ext cx="7200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Seite</a:t>
            </a:r>
            <a:r>
              <a:rPr lang="en-US" dirty="0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iese_rgb">
            <a:extLst>
              <a:ext uri="{FF2B5EF4-FFF2-40B4-BE49-F238E27FC236}">
                <a16:creationId xmlns:a16="http://schemas.microsoft.com/office/drawing/2014/main" id="{DA08BAA3-E6D6-0DE6-DDC4-DA2ED3661089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0309226" y="6334126"/>
            <a:ext cx="1404000" cy="37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3" r:id="rId13"/>
    <p:sldLayoutId id="2147483668" r:id="rId14"/>
    <p:sldLayoutId id="2147483665" r:id="rId15"/>
    <p:sldLayoutId id="2147483671" r:id="rId16"/>
    <p:sldLayoutId id="2147483664" r:id="rId17"/>
    <p:sldLayoutId id="2147483667" r:id="rId18"/>
    <p:sldLayoutId id="2147483659" r:id="rId19"/>
    <p:sldLayoutId id="2147483678" r:id="rId20"/>
    <p:sldLayoutId id="2147483666" r:id="rId21"/>
    <p:sldLayoutId id="2147483669" r:id="rId22"/>
    <p:sldLayoutId id="2147483670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400" b="0" kern="1200">
          <a:solidFill>
            <a:schemeClr val="accent2"/>
          </a:solidFill>
          <a:latin typeface="Frutiger LT Com 65 Bold" panose="020B0803030504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9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9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18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00" indent="-216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00" indent="-216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648000" indent="-216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orient="horz" pos="300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3770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vyr58gad@rhrk.uni-kl.de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5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8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1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4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5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CDC082-012F-4E61-858B-C0FB30EFD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0" y="1135281"/>
            <a:ext cx="11712575" cy="5446272"/>
          </a:xfrm>
        </p:spPr>
        <p:txBody>
          <a:bodyPr/>
          <a:lstStyle/>
          <a:p>
            <a:pPr marL="0" lvl="0" indent="0">
              <a:buNone/>
            </a:pPr>
            <a:r>
              <a:rPr lang="de-DE" sz="3200" b="1" i="0" u="none" strike="noStrike" baseline="0" dirty="0">
                <a:latin typeface="Frutiger LT Com 45 Light" panose="020B0303030504020204" pitchFamily="34" charset="0"/>
              </a:rPr>
              <a:t>Development of Ontological</a:t>
            </a:r>
            <a:br>
              <a:rPr lang="de-DE" sz="3200" b="1" i="0" u="none" strike="noStrike" baseline="0" dirty="0">
                <a:latin typeface="Frutiger LT Com 45 Light" panose="020B0303030504020204" pitchFamily="34" charset="0"/>
              </a:rPr>
            </a:br>
            <a:r>
              <a:rPr lang="de-DE" sz="3200" b="1" i="0" u="none" strike="noStrike" baseline="0" dirty="0">
                <a:latin typeface="Frutiger LT Com 45 Light" panose="020B0303030504020204" pitchFamily="34" charset="0"/>
              </a:rPr>
              <a:t>Architecture for Capability-based</a:t>
            </a:r>
            <a:br>
              <a:rPr lang="de-DE" sz="3200" b="1" i="0" u="none" strike="noStrike" baseline="0" dirty="0">
                <a:latin typeface="Frutiger LT Com 45 Light" panose="020B0303030504020204" pitchFamily="34" charset="0"/>
              </a:rPr>
            </a:br>
            <a:r>
              <a:rPr lang="de-DE" sz="3200" b="1" i="0" u="none" strike="noStrike" baseline="0" dirty="0">
                <a:latin typeface="Frutiger LT Com 45 Light" panose="020B0303030504020204" pitchFamily="34" charset="0"/>
              </a:rPr>
              <a:t>Co-simulation Configuration</a:t>
            </a:r>
          </a:p>
          <a:p>
            <a:pPr marL="0" indent="0">
              <a:buNone/>
            </a:pPr>
            <a:r>
              <a:rPr lang="de-DE" noProof="0" dirty="0"/>
              <a:t>—</a:t>
            </a:r>
            <a:endParaRPr lang="de-DE" sz="3200" b="1" i="0" u="none" strike="noStrike" baseline="0" dirty="0">
              <a:latin typeface="Frutiger LT Com 45 Light" panose="020B0303030504020204" pitchFamily="34" charset="0"/>
            </a:endParaRPr>
          </a:p>
          <a:p>
            <a:pPr marL="0" indent="0">
              <a:buNone/>
            </a:pPr>
            <a:r>
              <a:rPr lang="de-DE" sz="1600" b="1" dirty="0" err="1">
                <a:latin typeface="Frutiger LT Com 75 Black" panose="020B0A03040504030204" pitchFamily="34" charset="0"/>
              </a:rPr>
              <a:t>Master‘s</a:t>
            </a:r>
            <a:r>
              <a:rPr lang="de-DE" sz="1600" b="1" dirty="0">
                <a:latin typeface="Frutiger LT Com 75 Black" panose="020B0A03040504030204" pitchFamily="34" charset="0"/>
              </a:rPr>
              <a:t> Thesis, RPTU Kaiserslautern</a:t>
            </a:r>
          </a:p>
          <a:p>
            <a:pPr marL="0" indent="0">
              <a:buNone/>
            </a:pPr>
            <a:r>
              <a:rPr lang="de-DE" sz="1600" b="1" dirty="0">
                <a:latin typeface="Frutiger LT Com 75 Black" panose="020B0A03040504030204" pitchFamily="34" charset="0"/>
              </a:rPr>
              <a:t>Anuja Chakraborty, </a:t>
            </a:r>
            <a:r>
              <a:rPr lang="de-DE" sz="1600" dirty="0">
                <a:latin typeface="Frutiger LT Com 75 Black" panose="020B0A03040504030204" pitchFamily="34" charset="0"/>
              </a:rPr>
              <a:t>Department of Computer Science</a:t>
            </a:r>
            <a:endParaRPr lang="de-DE" sz="1600" b="1" dirty="0">
              <a:latin typeface="Frutiger LT Com 75 Black" panose="020B0A03040504030204" pitchFamily="34" charset="0"/>
            </a:endParaRPr>
          </a:p>
          <a:p>
            <a:pPr marL="0" indent="0">
              <a:buNone/>
            </a:pPr>
            <a:r>
              <a:rPr lang="de-DE" sz="1600" b="1" dirty="0" err="1">
                <a:latin typeface="Frutiger LT Com 75 Black" panose="020B0A03040504030204" pitchFamily="34" charset="0"/>
              </a:rPr>
              <a:t>Matriculation</a:t>
            </a:r>
            <a:r>
              <a:rPr lang="de-DE" sz="1600" b="1" dirty="0">
                <a:latin typeface="Frutiger LT Com 75 Black" panose="020B0A03040504030204" pitchFamily="34" charset="0"/>
              </a:rPr>
              <a:t> </a:t>
            </a:r>
            <a:r>
              <a:rPr lang="de-DE" sz="1600" b="1" dirty="0" err="1">
                <a:latin typeface="Frutiger LT Com 75 Black" panose="020B0A03040504030204" pitchFamily="34" charset="0"/>
              </a:rPr>
              <a:t>number</a:t>
            </a:r>
            <a:r>
              <a:rPr lang="de-DE" sz="1600" b="1" dirty="0">
                <a:latin typeface="Frutiger LT Com 75 Black" panose="020B0A03040504030204" pitchFamily="34" charset="0"/>
              </a:rPr>
              <a:t>: 425838</a:t>
            </a:r>
          </a:p>
          <a:p>
            <a:pPr marL="0" indent="0">
              <a:buNone/>
            </a:pPr>
            <a:r>
              <a:rPr lang="de-DE" sz="1600" b="1" dirty="0">
                <a:latin typeface="Frutiger LT Com 75 Black" panose="020B0A03040504030204" pitchFamily="34" charset="0"/>
              </a:rPr>
              <a:t>E-Mail: </a:t>
            </a:r>
            <a:r>
              <a:rPr lang="de-DE" sz="1600" b="1" dirty="0">
                <a:latin typeface="Frutiger LT Com 75 Black" panose="020B0A030405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vyr58gad@rhrk.uni-kl.de</a:t>
            </a:r>
            <a:endParaRPr lang="de-DE" sz="1600" b="1" dirty="0">
              <a:latin typeface="Frutiger LT Com 75 Black" panose="020B0A03040504030204" pitchFamily="34" charset="0"/>
            </a:endParaRPr>
          </a:p>
          <a:p>
            <a:pPr marL="0" indent="0">
              <a:buNone/>
            </a:pPr>
            <a:r>
              <a:rPr lang="de-DE" sz="1600" b="1" dirty="0" err="1">
                <a:latin typeface="Frutiger LT Com 75 Black" panose="020B0A03040504030204" pitchFamily="34" charset="0"/>
              </a:rPr>
              <a:t>Presented</a:t>
            </a:r>
            <a:r>
              <a:rPr lang="de-DE" sz="1600" b="1" dirty="0">
                <a:latin typeface="Frutiger LT Com 75 Black" panose="020B0A03040504030204" pitchFamily="34" charset="0"/>
              </a:rPr>
              <a:t> on </a:t>
            </a:r>
            <a:r>
              <a:rPr lang="de-DE" sz="1600" b="1" dirty="0" err="1">
                <a:latin typeface="Frutiger LT Com 75 Black" panose="020B0A03040504030204" pitchFamily="34" charset="0"/>
              </a:rPr>
              <a:t>July</a:t>
            </a:r>
            <a:r>
              <a:rPr lang="de-DE" sz="1600" b="1" dirty="0">
                <a:latin typeface="Frutiger LT Com 75 Black" panose="020B0A03040504030204" pitchFamily="34" charset="0"/>
              </a:rPr>
              <a:t> 1st, 2025</a:t>
            </a:r>
          </a:p>
          <a:p>
            <a:pPr marL="0" indent="0">
              <a:buNone/>
            </a:pPr>
            <a:r>
              <a:rPr lang="de-DE" sz="1600" b="1" dirty="0" err="1">
                <a:latin typeface="Frutiger LT Com 75 Black" panose="020B0A03040504030204" pitchFamily="34" charset="0"/>
              </a:rPr>
              <a:t>Supervised</a:t>
            </a:r>
            <a:r>
              <a:rPr lang="de-DE" sz="1600" b="1" dirty="0">
                <a:latin typeface="Frutiger LT Com 75 Black" panose="020B0A03040504030204" pitchFamily="34" charset="0"/>
              </a:rPr>
              <a:t> </a:t>
            </a:r>
            <a:r>
              <a:rPr lang="de-DE" sz="1600" b="1" dirty="0" err="1">
                <a:latin typeface="Frutiger LT Com 75 Black" panose="020B0A03040504030204" pitchFamily="34" charset="0"/>
              </a:rPr>
              <a:t>by</a:t>
            </a:r>
            <a:r>
              <a:rPr lang="de-DE" sz="1600" b="1" dirty="0">
                <a:latin typeface="Frutiger LT Com 75 Black" panose="020B0A03040504030204" pitchFamily="34" charset="0"/>
              </a:rPr>
              <a:t>: Prof. Dr.-Ing. Peter </a:t>
            </a:r>
            <a:r>
              <a:rPr lang="de-DE" sz="1600" b="1" dirty="0" err="1">
                <a:latin typeface="Frutiger LT Com 75 Black" panose="020B0A03040504030204" pitchFamily="34" charset="0"/>
              </a:rPr>
              <a:t>Liggesmeyer</a:t>
            </a:r>
            <a:r>
              <a:rPr lang="de-DE" sz="1600" b="1" dirty="0">
                <a:latin typeface="Frutiger LT Com 75 Black" panose="020B0A03040504030204" pitchFamily="34" charset="0"/>
              </a:rPr>
              <a:t> &amp; Siwara Schmitt</a:t>
            </a:r>
          </a:p>
          <a:p>
            <a:endParaRPr lang="de-DE" sz="1600" b="1" dirty="0">
              <a:latin typeface="Frutiger LT Com 75 Black" panose="020B0A03040504030204" pitchFamily="34" charset="0"/>
            </a:endParaRPr>
          </a:p>
        </p:txBody>
      </p:sp>
      <p:pic>
        <p:nvPicPr>
          <p:cNvPr id="2" name="iese_rgb_modul">
            <a:extLst>
              <a:ext uri="{FF2B5EF4-FFF2-40B4-BE49-F238E27FC236}">
                <a16:creationId xmlns:a16="http://schemas.microsoft.com/office/drawing/2014/main" id="{57D00E97-78A5-100C-8416-638097027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575" y="476250"/>
            <a:ext cx="2520000" cy="9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8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0CCF772E-B200-4A5A-A523-AC73A3B0B1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0CCF772E-B200-4A5A-A523-AC73A3B0B1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5">
            <a:extLst>
              <a:ext uri="{FF2B5EF4-FFF2-40B4-BE49-F238E27FC236}">
                <a16:creationId xmlns:a16="http://schemas.microsoft.com/office/drawing/2014/main" id="{DE8CA5D7-7759-407B-A183-2B747F0F809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288"/>
            <a:ext cx="11233150" cy="382733"/>
          </a:xfrm>
        </p:spPr>
        <p:txBody>
          <a:bodyPr vert="horz"/>
          <a:lstStyle/>
          <a:p>
            <a:r>
              <a:rPr lang="de-DE" dirty="0"/>
              <a:t>Agenda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5D9C28-98E4-491B-9ACF-DCAF7102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BB592B79-1657-46EE-9498-3FBAC3456293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324B3E-4EA4-4788-B94B-66B9E1BC2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A084D317-82FF-4C40-AE4D-3B5721D6C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719278"/>
              </p:ext>
            </p:extLst>
          </p:nvPr>
        </p:nvGraphicFramePr>
        <p:xfrm>
          <a:off x="479426" y="1700215"/>
          <a:ext cx="11233150" cy="279694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16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6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906">
                <a:tc>
                  <a:txBody>
                    <a:bodyPr/>
                    <a:lstStyle/>
                    <a:p>
                      <a:pPr marL="0" lvl="3" indent="0" algn="ctr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de-DE" sz="16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marL="0" marR="0"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Introduction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906">
                <a:tc>
                  <a:txBody>
                    <a:bodyPr/>
                    <a:lstStyle/>
                    <a:p>
                      <a:pPr marL="0" lvl="3" indent="0" algn="ctr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de-DE" sz="16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2.</a:t>
                      </a:r>
                    </a:p>
                  </a:txBody>
                  <a:tcPr marL="0" marR="0"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3" indent="0"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Related Work &amp; Research Gap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906">
                <a:tc>
                  <a:txBody>
                    <a:bodyPr/>
                    <a:lstStyle/>
                    <a:p>
                      <a:pPr marL="0" lvl="3" indent="0" algn="ctr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de-DE" sz="16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3.</a:t>
                      </a:r>
                    </a:p>
                  </a:txBody>
                  <a:tcPr marL="0" marR="0"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Concept Diagram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906">
                <a:tc>
                  <a:txBody>
                    <a:bodyPr/>
                    <a:lstStyle/>
                    <a:p>
                      <a:pPr marL="0" lvl="3" indent="0" algn="ctr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de-DE" sz="16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4.</a:t>
                      </a:r>
                    </a:p>
                  </a:txBody>
                  <a:tcPr marL="0" marR="0"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906">
                <a:tc>
                  <a:txBody>
                    <a:bodyPr/>
                    <a:lstStyle/>
                    <a:p>
                      <a:pPr marL="0" lvl="3" indent="0" algn="ctr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de-DE" sz="16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5.</a:t>
                      </a:r>
                    </a:p>
                  </a:txBody>
                  <a:tcPr marL="0" marR="0"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Evaluation &amp; Discussion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664918"/>
                  </a:ext>
                </a:extLst>
              </a:tr>
              <a:tr h="276906">
                <a:tc>
                  <a:txBody>
                    <a:bodyPr/>
                    <a:lstStyle/>
                    <a:p>
                      <a:pPr marL="0" lvl="3" indent="0" algn="ctr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de-DE" sz="16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6.</a:t>
                      </a:r>
                    </a:p>
                  </a:txBody>
                  <a:tcPr marL="0" marR="0"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Conclusion &amp; Future work</a:t>
                      </a:r>
                    </a:p>
                    <a:p>
                      <a:pPr marL="0" marR="0" lvl="3" indent="0" algn="l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lvl="3" indent="0" algn="l" defTabSz="914400" rtl="0" eaLnBrk="1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endParaRPr lang="de-DE" sz="1600" b="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DB28FD0E-1810-4AA6-835A-8A2A2652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9046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053A9-377D-C967-BBA8-B4F927B2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73664EE4-5D12-453D-2C58-4210C59D5B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DE33306E-9712-527A-470A-77F8464DF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2C23E1D-8EC8-4709-90A5-66D099EEDF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Introduction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B37033D6-4BAD-DC7B-F368-59F94729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A021F19-19BD-C0D7-E9D7-A22DCF21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714E04-2C0F-6F56-95AE-BE534E0CD9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2704330"/>
          </a:xfrm>
        </p:spPr>
        <p:txBody>
          <a:bodyPr/>
          <a:lstStyle/>
          <a:p>
            <a:pPr lvl="1"/>
            <a:r>
              <a:rPr lang="de-DE" b="1" dirty="0"/>
              <a:t>R</a:t>
            </a:r>
            <a:r>
              <a:rPr lang="de-DE" dirty="0">
                <a:latin typeface="+mj-lt"/>
              </a:rPr>
              <a:t>esearch Motivation: </a:t>
            </a:r>
            <a:r>
              <a:rPr lang="en-US" dirty="0"/>
              <a:t>Simulation is critical in automotive systems, where multiple subsystems interact via heterogeneous models.</a:t>
            </a:r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Key Issues:</a:t>
            </a:r>
          </a:p>
          <a:p>
            <a:pPr lvl="3"/>
            <a:r>
              <a:rPr lang="en-US" dirty="0"/>
              <a:t>Current co-simulation configuration is manual, error-prone, and hard to scale.</a:t>
            </a:r>
          </a:p>
          <a:p>
            <a:pPr lvl="3"/>
            <a:r>
              <a:rPr lang="en-US" dirty="0"/>
              <a:t>Ontologies offer formal semantics and reuse potential but existing work lacks a </a:t>
            </a:r>
            <a:r>
              <a:rPr lang="de-DE" dirty="0"/>
              <a:t>comprehensive layered architecture. </a:t>
            </a:r>
          </a:p>
          <a:p>
            <a:pPr marL="180000" lvl="4" indent="0">
              <a:buNone/>
            </a:pPr>
            <a:endParaRPr lang="de-DE" dirty="0"/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Research Objective: </a:t>
            </a:r>
            <a:r>
              <a:rPr lang="en-US" dirty="0"/>
              <a:t>Design a modular, standards-aligned ontology architecture to enable semantic reasoning, capability matching, and reusable co-simulation configurations</a:t>
            </a:r>
            <a:r>
              <a:rPr lang="en-US" sz="1600" dirty="0">
                <a:latin typeface="Frutiger LT Com 45 Light" panose="020B0303030504020204" pitchFamily="34" charset="0"/>
              </a:rPr>
              <a:t>.</a:t>
            </a:r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6D1C2AC7-7A5B-AFF8-9A02-12C47867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7844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D4F25-47CB-ACE3-876A-0B53903E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EAD9E7BC-EADC-CC86-B1A8-1E906005A1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DE33306E-9712-527A-470A-77F8464DF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FBF4A9E6-2947-7505-B96A-62E380E475E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Related</a:t>
            </a:r>
            <a:r>
              <a:rPr lang="de-DE" sz="2400" dirty="0">
                <a:latin typeface="Frutiger LT Com 75 Black" panose="020B0A03040504030204" pitchFamily="34" charset="0"/>
              </a:rPr>
              <a:t> </a:t>
            </a:r>
            <a:r>
              <a:rPr lang="de-DE" dirty="0"/>
              <a:t>Work &amp; Research Gap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F2F8842E-96A3-1188-5821-347690C3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2FE295D-CDC3-801D-EDBD-36CB3699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225929-7035-E93D-5B7A-EE32596E0C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3776418"/>
          </a:xfrm>
        </p:spPr>
        <p:txBody>
          <a:bodyPr/>
          <a:lstStyle/>
          <a:p>
            <a:pPr lvl="3"/>
            <a:r>
              <a:rPr lang="en-US" dirty="0"/>
              <a:t>Use of TBox, ODPs for modular design to enhance reusability and reduce engineering effort</a:t>
            </a:r>
            <a:r>
              <a:rPr lang="de-DE" dirty="0"/>
              <a:t>.</a:t>
            </a:r>
          </a:p>
          <a:p>
            <a:pPr lvl="3"/>
            <a:r>
              <a:rPr lang="en-US" dirty="0"/>
              <a:t>Layered ontology architecture mainly in manufacturing, production, </a:t>
            </a:r>
            <a:r>
              <a:rPr lang="de-DE" dirty="0"/>
              <a:t>supply chain contexts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Ontology-Driven Simulation Frameworks such as DeMO, OSIF, OSMF for semantic interoperability and model discovery.</a:t>
            </a:r>
          </a:p>
          <a:p>
            <a:pPr lvl="3"/>
            <a:r>
              <a:rPr lang="en-US" dirty="0"/>
              <a:t>No unified ontology framework to integrate simulation models, capabilities, and quality metrics </a:t>
            </a:r>
            <a:r>
              <a:rPr lang="de-DE" dirty="0"/>
              <a:t>with </a:t>
            </a:r>
            <a:r>
              <a:rPr lang="de-DE" dirty="0" err="1"/>
              <a:t>co</a:t>
            </a:r>
            <a:r>
              <a:rPr lang="de-DE" dirty="0"/>
              <a:t>-simulation configuration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Lack of standardized, domain-independent architecture that can scale across different co-simulation contexts. </a:t>
            </a:r>
          </a:p>
          <a:p>
            <a:pPr lvl="3"/>
            <a:r>
              <a:rPr lang="en-US" dirty="0"/>
              <a:t>Most work focuses on manufacturing/production; automotive communication networks underexplored.</a:t>
            </a:r>
          </a:p>
          <a:p>
            <a:pPr marL="0" lvl="3" indent="0">
              <a:buNone/>
            </a:pPr>
            <a:endParaRPr lang="en-US" sz="16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6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lvl="3"/>
            <a:endParaRPr lang="en-US" sz="16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>
              <a:latin typeface="Frutiger LT Com 45 Light" panose="020B0303030504020204" pitchFamily="34" charset="0"/>
            </a:endParaRPr>
          </a:p>
          <a:p>
            <a:pPr lvl="3"/>
            <a:endParaRPr lang="en-US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600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3E54BE2-09E5-502C-25EC-5BEE9BDC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26657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1D849-41AA-EAB7-7B20-1E1779FC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7A7A51C-2B38-787B-8DCA-4F49FADEC2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5A6F092D-727C-44CD-BB0C-F1C722C503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D536E9EB-883A-B50B-E76D-75DB8918D84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288"/>
            <a:ext cx="11233150" cy="382733"/>
          </a:xfrm>
        </p:spPr>
        <p:txBody>
          <a:bodyPr vert="horz"/>
          <a:lstStyle/>
          <a:p>
            <a:pPr lvl="0"/>
            <a:r>
              <a:rPr lang="en-US" dirty="0"/>
              <a:t>Ontological Framework for Capability-based Co-Simulation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478EE2-321C-FC4B-AF4F-8C4879EE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CAC2C9A5-8BB3-4A95-A883-8E124E9E9671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5214A-E580-6B27-EE7B-9FD38CA7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C7C7C41-D343-90F5-2067-2FB6797455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778321"/>
            <a:ext cx="11233150" cy="319318"/>
          </a:xfrm>
        </p:spPr>
        <p:txBody>
          <a:bodyPr/>
          <a:lstStyle/>
          <a:p>
            <a:r>
              <a:rPr lang="de-DE" dirty="0"/>
              <a:t>Concept </a:t>
            </a:r>
            <a:r>
              <a:rPr lang="de-DE" dirty="0" err="1"/>
              <a:t>Diagram</a:t>
            </a:r>
            <a:endParaRPr lang="en-US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12D40C80-87CA-724F-D154-B865B08B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84A65269-868D-F21B-3DB8-831FB747F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25" y="1670180"/>
            <a:ext cx="10515600" cy="382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8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21AB-4519-FED8-5DA1-25433407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8F19BA-2498-195D-92AE-77804494A0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A96D7F38-C5AE-4FFA-AC9F-DDD63839CE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3CAA5EAA-47E9-8E85-2EA6-4249C9CEA66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Upper-Level Ontology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4AC626CB-1028-9922-36BD-F5008B25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7EED969-BDC1-E4F4-A380-A0E627C5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20F936C-B40A-F32B-E02B-FB816EDF4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79425" y="778321"/>
            <a:ext cx="11233150" cy="318933"/>
          </a:xfrm>
        </p:spPr>
        <p:txBody>
          <a:bodyPr numCol="1"/>
          <a:lstStyle/>
          <a:p>
            <a:r>
              <a:rPr lang="de-DE" dirty="0"/>
              <a:t>Concept </a:t>
            </a:r>
            <a:r>
              <a:rPr lang="de-DE" dirty="0" err="1"/>
              <a:t>Diagram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6905D6-E510-05B1-77DF-9CCE4A261C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3370153"/>
          </a:xfrm>
        </p:spPr>
        <p:txBody>
          <a:bodyPr/>
          <a:lstStyle/>
          <a:p>
            <a:pPr lvl="3"/>
            <a:r>
              <a:rPr lang="en-US" dirty="0"/>
              <a:t>Integrated BFO (ISO21838) as the foundational semantic framework.</a:t>
            </a:r>
          </a:p>
          <a:p>
            <a:pPr lvl="3"/>
            <a:r>
              <a:rPr lang="en-US" dirty="0"/>
              <a:t>Leveraged established standards rather than developing new upper-level ontology from scratch.</a:t>
            </a:r>
          </a:p>
          <a:p>
            <a:pPr lvl="3"/>
            <a:r>
              <a:rPr lang="en-US" dirty="0"/>
              <a:t>Ensures semantic consistency and logical rigor across all ontology levels.</a:t>
            </a:r>
          </a:p>
          <a:p>
            <a:pPr lvl="3"/>
            <a:r>
              <a:rPr lang="en-US" dirty="0"/>
              <a:t>Key BFO Classes utilized – Function, Object, Process, Quality.</a:t>
            </a:r>
          </a:p>
          <a:p>
            <a:pPr lvl="3"/>
            <a:endParaRPr lang="en-US" dirty="0"/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lvl="3"/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>
              <a:latin typeface="Frutiger LT Com 45 Light" panose="020B0303030504020204" pitchFamily="34" charset="0"/>
            </a:endParaRPr>
          </a:p>
          <a:p>
            <a:pPr lvl="3"/>
            <a:endParaRPr lang="en-US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5B7FFF0E-C423-74E3-8D96-60B60882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5346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8067-FF52-704C-6A09-46D77995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59EAA6CD-FAD3-D89C-C728-4CED713AB36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8F19BA-2498-195D-92AE-77804494A0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6D9A3BF7-648B-B152-A74D-B1359995B4D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Mid-Level Ontology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B8230DE5-F511-5D5F-E9F6-6DD8DDA8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9CFA9989-EE34-B050-4547-F8B4C88C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AA2046-3C5E-AB8A-943E-6AA260242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79425" y="778321"/>
            <a:ext cx="11233150" cy="318933"/>
          </a:xfrm>
        </p:spPr>
        <p:txBody>
          <a:bodyPr numCol="1"/>
          <a:lstStyle/>
          <a:p>
            <a:r>
              <a:rPr lang="de-DE" dirty="0"/>
              <a:t>Concept </a:t>
            </a:r>
            <a:r>
              <a:rPr lang="de-DE" dirty="0" err="1"/>
              <a:t>Diagram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DFE9BF-08CE-FC05-783B-3B8BBCF06E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5266057"/>
          </a:xfrm>
        </p:spPr>
        <p:txBody>
          <a:bodyPr/>
          <a:lstStyle/>
          <a:p>
            <a:pPr lvl="3"/>
            <a:r>
              <a:rPr lang="en-US" dirty="0"/>
              <a:t>Bridges domain-specific and upper-level abstractions in four-layer architecture.</a:t>
            </a:r>
          </a:p>
          <a:p>
            <a:pPr lvl="3"/>
            <a:r>
              <a:rPr lang="en-US" dirty="0"/>
              <a:t>Mapped to BFO categories for foundational consistency.</a:t>
            </a:r>
          </a:p>
          <a:p>
            <a:pPr lvl="3"/>
            <a:r>
              <a:rPr lang="en-US" dirty="0"/>
              <a:t>Integrates concepts from:</a:t>
            </a:r>
          </a:p>
          <a:p>
            <a:pPr lvl="4"/>
            <a:r>
              <a:rPr lang="en-US" b="1" dirty="0"/>
              <a:t>CSS ontology </a:t>
            </a:r>
            <a:r>
              <a:rPr lang="en-US" dirty="0"/>
              <a:t>(Capability, Resource, Process)</a:t>
            </a:r>
          </a:p>
          <a:p>
            <a:pPr lvl="4"/>
            <a:r>
              <a:rPr lang="en-US" b="1" dirty="0"/>
              <a:t>VDI 3633 </a:t>
            </a:r>
            <a:r>
              <a:rPr lang="en-US" dirty="0"/>
              <a:t>(Simulation)</a:t>
            </a:r>
          </a:p>
          <a:p>
            <a:pPr lvl="4"/>
            <a:r>
              <a:rPr lang="en-US" b="1" dirty="0"/>
              <a:t>IDTA SMT </a:t>
            </a:r>
            <a:r>
              <a:rPr lang="en-US" dirty="0"/>
              <a:t>(Provision of Simulation Models)</a:t>
            </a:r>
          </a:p>
          <a:p>
            <a:pPr lvl="4"/>
            <a:r>
              <a:rPr lang="en-US" b="1" dirty="0"/>
              <a:t>ISO 25010 </a:t>
            </a:r>
            <a:r>
              <a:rPr lang="en-US" dirty="0"/>
              <a:t>(Quality Attributes)</a:t>
            </a:r>
          </a:p>
          <a:p>
            <a:pPr lvl="3"/>
            <a:r>
              <a:rPr lang="en-US" dirty="0"/>
              <a:t>Core conceptual structure for capability-based co-simulation configuration.</a:t>
            </a:r>
          </a:p>
          <a:p>
            <a:pPr lvl="3"/>
            <a:r>
              <a:rPr lang="en-US" dirty="0"/>
              <a:t>Provides classes and properties for domain-level ontologies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lvl="3"/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>
              <a:latin typeface="Frutiger LT Com 45 Light" panose="020B0303030504020204" pitchFamily="34" charset="0"/>
            </a:endParaRPr>
          </a:p>
          <a:p>
            <a:pPr lvl="3"/>
            <a:endParaRPr lang="en-US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58E85AD8-529B-C13B-50A0-236F8557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54745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A1D3-6E43-DB5B-D2C1-15CFE8BC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BBF68F79-D596-DEC8-AF63-15E1AE9FA3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7A7A51C-2B38-787B-8DCA-4F49FADEC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FF87FFDC-EBAD-38E2-C206-45ADD5DA701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288"/>
            <a:ext cx="11233150" cy="382733"/>
          </a:xfrm>
        </p:spPr>
        <p:txBody>
          <a:bodyPr vert="horz"/>
          <a:lstStyle/>
          <a:p>
            <a:pPr lvl="0"/>
            <a:r>
              <a:rPr lang="en-US" dirty="0"/>
              <a:t>Ontology Architecture as the example of Fraunhofer IESE’s use case AEB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BE04297-8088-71EE-DB1D-108DE256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CAC2C9A5-8BB3-4A95-A883-8E124E9E9671}" type="datetime1">
              <a:rPr lang="de-DE" noProof="0" smtClean="0"/>
              <a:t>02.07.2025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AD4EB2-6A23-FF44-1894-DE7D5C62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AB979961-01D9-0A47-3881-AC8812D5F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778321"/>
            <a:ext cx="11233150" cy="319318"/>
          </a:xfrm>
        </p:spPr>
        <p:txBody>
          <a:bodyPr/>
          <a:lstStyle/>
          <a:p>
            <a:r>
              <a:rPr lang="de-DE" dirty="0"/>
              <a:t>Implementation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EFAACB96-952D-387A-8D7D-1C8FF8ED9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4412974"/>
            <a:ext cx="11233150" cy="2010990"/>
          </a:xfrm>
        </p:spPr>
        <p:txBody>
          <a:bodyPr/>
          <a:lstStyle/>
          <a:p>
            <a:r>
              <a:rPr lang="en-US" dirty="0"/>
              <a:t>Tools and technologies used:</a:t>
            </a:r>
          </a:p>
          <a:p>
            <a:pPr lvl="1"/>
            <a:r>
              <a:rPr lang="en-US" b="1" dirty="0"/>
              <a:t>Protégé</a:t>
            </a:r>
            <a:r>
              <a:rPr lang="en-US" dirty="0"/>
              <a:t>: Primary ontology development tool with </a:t>
            </a:r>
            <a:r>
              <a:rPr lang="en-US" b="1" dirty="0"/>
              <a:t>OWL 2 DL </a:t>
            </a:r>
            <a:r>
              <a:rPr lang="en-US" dirty="0"/>
              <a:t>support for visual modeling and reasoner integration.</a:t>
            </a:r>
          </a:p>
          <a:p>
            <a:pPr lvl="1"/>
            <a:r>
              <a:rPr lang="en-US" b="1" dirty="0"/>
              <a:t>Pellet Reasoner</a:t>
            </a:r>
            <a:r>
              <a:rPr lang="en-US" dirty="0"/>
              <a:t>: Selected for consistency checking, ontology classification, and complex inferencing.</a:t>
            </a:r>
          </a:p>
          <a:p>
            <a:pPr lvl="1"/>
            <a:r>
              <a:rPr lang="en-US" b="1" dirty="0"/>
              <a:t>Apache Jena </a:t>
            </a:r>
            <a:r>
              <a:rPr lang="en-US" b="1" dirty="0" err="1"/>
              <a:t>Fuseki</a:t>
            </a:r>
            <a:r>
              <a:rPr lang="en-US" dirty="0"/>
              <a:t>: </a:t>
            </a:r>
            <a:r>
              <a:rPr lang="en-US" b="1" dirty="0"/>
              <a:t>SPARQL</a:t>
            </a:r>
            <a:r>
              <a:rPr lang="en-US" dirty="0"/>
              <a:t> server for executing semantic queries and competency question validation.</a:t>
            </a:r>
          </a:p>
          <a:p>
            <a:pPr lvl="1"/>
            <a:endParaRPr lang="en-US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A210738B-C1ED-D203-DD3C-E87E974A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45374BCD-4005-A572-178D-47FF4B30C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25" y="1371600"/>
            <a:ext cx="10515600" cy="30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79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25696-5CA1-F1AE-0182-3D39CFB4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4BE5F5CD-0C97-860F-AB78-A99DF18EC3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59EAA6CD-FAD3-D89C-C728-4CED713AB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C2E6F3B4-13A8-202D-0C75-A28D47FA0B2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Domain-Level Ontologies for Fraunhofer IESE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75AB5C2E-9999-B5D1-3BB7-2BCECC7D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92172060-9F1F-64F1-3CFF-EA71165D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8D95DE0-354E-E91D-F833-D55971CAD5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79425" y="778321"/>
            <a:ext cx="11233150" cy="318933"/>
          </a:xfrm>
        </p:spPr>
        <p:txBody>
          <a:bodyPr numCol="1"/>
          <a:lstStyle/>
          <a:p>
            <a:r>
              <a:rPr lang="de-DE" dirty="0"/>
              <a:t>Implementation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49C2C4-E8F0-72F7-B2ED-DB6B21DAE1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5266057"/>
          </a:xfrm>
        </p:spPr>
        <p:txBody>
          <a:bodyPr/>
          <a:lstStyle/>
          <a:p>
            <a:pPr lvl="3"/>
            <a:r>
              <a:rPr lang="en-US" dirty="0"/>
              <a:t>Specializes mid-level structure for simulation models of communication network protocols</a:t>
            </a:r>
          </a:p>
          <a:p>
            <a:pPr lvl="3"/>
            <a:r>
              <a:rPr lang="en-US" dirty="0"/>
              <a:t>Built for 4 protocols: CAN, Ethernet, FlexRay, LIN based on Fraunhofer FERAL framework specifications.</a:t>
            </a:r>
          </a:p>
          <a:p>
            <a:pPr lvl="3"/>
            <a:r>
              <a:rPr lang="en-US" dirty="0"/>
              <a:t>Semantic alignment with IDTA SMT "Provision of Simulation Models"</a:t>
            </a:r>
          </a:p>
          <a:p>
            <a:pPr lvl="3"/>
            <a:r>
              <a:rPr lang="en-US" dirty="0"/>
              <a:t>Each represented as:</a:t>
            </a:r>
          </a:p>
          <a:p>
            <a:pPr lvl="4"/>
            <a:r>
              <a:rPr lang="en-US" dirty="0"/>
              <a:t>Simulation Model class</a:t>
            </a:r>
          </a:p>
          <a:p>
            <a:pPr lvl="4"/>
            <a:r>
              <a:rPr lang="en-US" dirty="0"/>
              <a:t>Related Resources (e.g., ECUs)</a:t>
            </a:r>
          </a:p>
          <a:p>
            <a:pPr lvl="4"/>
            <a:r>
              <a:rPr lang="en-US" dirty="0"/>
              <a:t>Capabilities (e.g., FaultInjection, MessageFrameTransmission)</a:t>
            </a:r>
          </a:p>
          <a:p>
            <a:pPr lvl="4"/>
            <a:r>
              <a:rPr lang="en-US" dirty="0"/>
              <a:t>Processes and Quality attributes</a:t>
            </a:r>
          </a:p>
          <a:p>
            <a:pPr lvl="3"/>
            <a:r>
              <a:rPr lang="en-US" dirty="0"/>
              <a:t>Encapsulated using OWL Classes, Object &amp; Data Properties.</a:t>
            </a:r>
          </a:p>
          <a:p>
            <a:pPr lvl="3"/>
            <a:r>
              <a:rPr lang="en-US" dirty="0"/>
              <a:t>Performed Capability Check Evaluation for simulation models and resource identification.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lvl="3"/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>
              <a:latin typeface="Frutiger LT Com 45 Light" panose="020B0303030504020204" pitchFamily="34" charset="0"/>
            </a:endParaRPr>
          </a:p>
          <a:p>
            <a:pPr lvl="3"/>
            <a:endParaRPr lang="en-US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A43F03D4-02D6-8B13-1799-B04B728A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41494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C72D2-E71B-BFB8-7779-E26DB08C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55413103-734B-2C3F-5AD0-3C1F13372E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4BE5F5CD-0C97-860F-AB78-A99DF18EC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42D1F678-E868-BF3D-506F-3DB5D2108A5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477"/>
          </a:xfrm>
        </p:spPr>
        <p:txBody>
          <a:bodyPr vert="horz"/>
          <a:lstStyle/>
          <a:p>
            <a:pPr lvl="0"/>
            <a:r>
              <a:rPr lang="de-DE" dirty="0"/>
              <a:t>Use-</a:t>
            </a:r>
            <a:r>
              <a:rPr lang="de-DE" dirty="0" err="1"/>
              <a:t>case</a:t>
            </a:r>
            <a:r>
              <a:rPr lang="de-DE" dirty="0"/>
              <a:t>-Level Ontology for Use-</a:t>
            </a:r>
            <a:r>
              <a:rPr lang="de-DE" dirty="0" err="1"/>
              <a:t>case</a:t>
            </a:r>
            <a:r>
              <a:rPr lang="de-DE" dirty="0"/>
              <a:t> AEB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F61A9360-F85C-2B8C-584E-C72D4865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77FF59FA-4F71-D17D-8443-15A51FBD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B580C458-BC0A-0AA5-1462-4D9BE2F032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79425" y="778321"/>
            <a:ext cx="11233150" cy="318933"/>
          </a:xfrm>
        </p:spPr>
        <p:txBody>
          <a:bodyPr numCol="1"/>
          <a:lstStyle/>
          <a:p>
            <a:r>
              <a:rPr lang="de-DE" dirty="0"/>
              <a:t>Implementation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F37177-E7BE-11C0-69B1-3304F2D39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4453527"/>
          </a:xfrm>
        </p:spPr>
        <p:txBody>
          <a:bodyPr/>
          <a:lstStyle/>
          <a:p>
            <a:pPr marL="0" lvl="3" indent="0">
              <a:buNone/>
            </a:pPr>
            <a:r>
              <a:rPr lang="en-US" dirty="0">
                <a:latin typeface="+mj-lt"/>
              </a:rPr>
              <a:t>Real-World Simulation Scenario: Automated Emergency Braking (AEB)</a:t>
            </a:r>
          </a:p>
          <a:p>
            <a:pPr lvl="3"/>
            <a:r>
              <a:rPr lang="en-US" dirty="0"/>
              <a:t>Aligns with thesis focus on communication protocols in automotive context</a:t>
            </a:r>
          </a:p>
          <a:p>
            <a:pPr lvl="3"/>
            <a:r>
              <a:rPr lang="en-US" dirty="0"/>
              <a:t>Instantiates domain-level (CAN Bus) concepts to simulate the emergency braking scenario as it involves network of ECUs exchanging sensor/control data over CAN bus.</a:t>
            </a:r>
          </a:p>
          <a:p>
            <a:pPr lvl="3"/>
            <a:r>
              <a:rPr lang="en-US" dirty="0"/>
              <a:t>Maintains semantic consistency with mid- and domain-level ontologies.</a:t>
            </a:r>
          </a:p>
          <a:p>
            <a:pPr lvl="3"/>
            <a:r>
              <a:rPr lang="en-US" dirty="0"/>
              <a:t>Enables scenario-specific validation, reasoning, and traceability of simulation model configurations.</a:t>
            </a:r>
          </a:p>
          <a:p>
            <a:pPr lvl="3"/>
            <a:r>
              <a:rPr lang="en-US" dirty="0"/>
              <a:t>Performed Feasibility Check Evaluation for configuration verification of simulation model instances for required capabilities.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lvl="3"/>
            <a:endParaRPr lang="en-US" sz="1800" dirty="0">
              <a:solidFill>
                <a:schemeClr val="tx1"/>
              </a:solidFill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>
              <a:latin typeface="Frutiger LT Com 45 Light" panose="020B0303030504020204" pitchFamily="34" charset="0"/>
            </a:endParaRPr>
          </a:p>
          <a:p>
            <a:pPr lvl="3"/>
            <a:endParaRPr lang="en-US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en-US" sz="1800" dirty="0">
              <a:latin typeface="Frutiger LT Com 45 Light" panose="020B0303030504020204" pitchFamily="34" charset="0"/>
            </a:endParaRPr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6A816B71-D657-9E54-7A49-4BDD5D3A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3469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7CB9C-D715-96DE-EAC0-DBB8D5ED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1B3FA414-1B2B-9A71-870E-BB7FCCBD80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5A6F092D-727C-44CD-BB0C-F1C722C503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D75E4093-27F3-1188-67C2-7B932C94C9F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288"/>
            <a:ext cx="11233150" cy="382477"/>
          </a:xfrm>
        </p:spPr>
        <p:txBody>
          <a:bodyPr vert="horz"/>
          <a:lstStyle/>
          <a:p>
            <a:pPr lvl="0"/>
            <a:r>
              <a:rPr lang="de-DE" dirty="0"/>
              <a:t>Capability-based Engineering Approach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9D23C0-2E2C-9C12-8FDA-3E38FEBD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CAC2C9A5-8BB3-4A95-A883-8E124E9E9671}" type="datetime1">
              <a:rPr lang="de-DE" noProof="0" smtClean="0"/>
              <a:t>02.07.2025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7444D8-EC1F-E5E6-C149-F46C0C3B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F14573D-2290-984A-9A55-BFF139EC06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778321"/>
            <a:ext cx="11233150" cy="319318"/>
          </a:xfrm>
        </p:spPr>
        <p:txBody>
          <a:bodyPr/>
          <a:lstStyle/>
          <a:p>
            <a:r>
              <a:rPr lang="de-DE" dirty="0"/>
              <a:t>Implementation</a:t>
            </a:r>
            <a:endParaRPr lang="en-US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47166793-485F-5478-7F13-4A423A57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84F761F8-5787-F733-D9FA-35D1204CF9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5695122"/>
            <a:ext cx="11233150" cy="873444"/>
          </a:xfrm>
        </p:spPr>
        <p:txBody>
          <a:bodyPr/>
          <a:lstStyle/>
          <a:p>
            <a:pPr lvl="1"/>
            <a:r>
              <a:rPr lang="en-US" sz="1200" b="1" dirty="0"/>
              <a:t>Image source: </a:t>
            </a:r>
            <a:r>
              <a:rPr lang="en-US" sz="1200" dirty="0"/>
              <a:t>Based on Bock, J. et al. Capabilities, skills and services – CSS model extensions and engineering methodology. Technical report, Platform Industrie 4.0, 2023. Available at: https://www.plattform-i40.de/.</a:t>
            </a:r>
          </a:p>
          <a:p>
            <a:pPr lvl="1"/>
            <a:endParaRPr lang="en-US" dirty="0"/>
          </a:p>
        </p:txBody>
      </p:sp>
      <p:pic>
        <p:nvPicPr>
          <p:cNvPr id="21" name="Content Placeholder 10">
            <a:extLst>
              <a:ext uri="{FF2B5EF4-FFF2-40B4-BE49-F238E27FC236}">
                <a16:creationId xmlns:a16="http://schemas.microsoft.com/office/drawing/2014/main" id="{CD732764-9A34-168B-5486-4A4196368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94" y="1351722"/>
            <a:ext cx="9080205" cy="42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74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0218-6F8E-ECD9-6E4B-CD08FF48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BEBFB8EB-B05E-EDAA-1F8E-FB7D2936B5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DE33306E-9712-527A-470A-77F8464DF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BD5EE3DC-EA63-D0AD-E6D5-82F4A49798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Evaluation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DF2A8107-7811-6A34-2A3F-F114F829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FF17A01-1D64-BEC2-1438-0BA3A38A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C303C6-08C0-0919-6DD8-F08E99E457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3246017"/>
          </a:xfrm>
        </p:spPr>
        <p:txBody>
          <a:bodyPr/>
          <a:lstStyle/>
          <a:p>
            <a:pPr lvl="1"/>
            <a:r>
              <a:rPr lang="de-DE" dirty="0" err="1">
                <a:latin typeface="+mj-lt"/>
              </a:rPr>
              <a:t>Objective</a:t>
            </a:r>
            <a:r>
              <a:rPr lang="de-DE" dirty="0">
                <a:latin typeface="+mj-lt"/>
              </a:rPr>
              <a:t>: </a:t>
            </a:r>
            <a:r>
              <a:rPr lang="en-US" dirty="0"/>
              <a:t>Assess ability of the ontology-based system to configure and validate the simulation models of network protocols for AEB in virtual testbeds.</a:t>
            </a:r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Validation Method: </a:t>
            </a:r>
            <a:r>
              <a:rPr lang="en-US" dirty="0"/>
              <a:t>Compared ontology-driven configuration to manual expert-built FERAL configuration.</a:t>
            </a:r>
          </a:p>
          <a:p>
            <a:pPr marL="180000" lvl="4" indent="0">
              <a:buNone/>
            </a:pPr>
            <a:endParaRPr lang="de-DE" dirty="0"/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Outcomes: </a:t>
            </a:r>
            <a:endParaRPr lang="en-US" dirty="0"/>
          </a:p>
          <a:p>
            <a:pPr lvl="3"/>
            <a:r>
              <a:rPr lang="en-US" dirty="0"/>
              <a:t>Ontology correctly identified models and associated capabilities fulfilling simulation goals.</a:t>
            </a:r>
          </a:p>
          <a:p>
            <a:pPr lvl="3"/>
            <a:r>
              <a:rPr lang="en-US" dirty="0"/>
              <a:t>Ontology-derived results matched expert-built FERAL configuration.</a:t>
            </a:r>
          </a:p>
          <a:p>
            <a:pPr lvl="3"/>
            <a:r>
              <a:rPr lang="en-US" dirty="0"/>
              <a:t>SPARQL queries effectively decomposed complex simulation requirements.</a:t>
            </a:r>
          </a:p>
          <a:p>
            <a:pPr lvl="3"/>
            <a:r>
              <a:rPr lang="en-US" dirty="0"/>
              <a:t>Significant reduction in manual effort and potential human errors.</a:t>
            </a:r>
          </a:p>
          <a:p>
            <a:pPr lvl="3"/>
            <a:endParaRPr lang="de-DE" dirty="0"/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3AC997F-3FF7-297D-E935-4A9FD08B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8518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8B06-60F6-91FA-F1CD-34490F9E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AD8C39C6-E8A6-153B-83AB-E72526D60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BEBFB8EB-B05E-EDAA-1F8E-FB7D2936B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62192F4E-D840-F342-E870-3AB7A3F76E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Simulation Goals Definition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A8DCEE0-BCBF-3B7D-913D-BFDEB288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02.07.2025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727AD8B5-AB26-A231-2D48-843670BA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ED7183-E3FD-D3EB-A730-897BFF16C1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3246017"/>
          </a:xfrm>
        </p:spPr>
        <p:txBody>
          <a:bodyPr/>
          <a:lstStyle/>
          <a:p>
            <a:pPr lvl="1"/>
            <a:r>
              <a:rPr lang="en-US" dirty="0"/>
              <a:t>Both goals directly map to formal capabilities (FaultInjection, MessageFrameTransmission) defined in domain ontologies.</a:t>
            </a:r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Simulation Goal 1:</a:t>
            </a:r>
          </a:p>
          <a:p>
            <a:pPr lvl="3"/>
            <a:r>
              <a:rPr lang="en-US" dirty="0"/>
              <a:t>Fault Injection: "Find the effect of network fault injection on emergency braking" - tests system robustness under failure conditions</a:t>
            </a:r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Simulation Goal 2:</a:t>
            </a:r>
            <a:endParaRPr lang="de-DE" dirty="0"/>
          </a:p>
          <a:p>
            <a:pPr lvl="3"/>
            <a:r>
              <a:rPr lang="en-US" dirty="0"/>
              <a:t>Message Frame Transmission: "Measure message frame transmission during emergency braking" - analyzes data integrity and timing between ECUs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de-DE" dirty="0"/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D08C2FB-9B8A-C1DB-2D09-0FEB78AB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sp>
        <p:nvSpPr>
          <p:cNvPr id="2" name="Textplatzhalter 11">
            <a:extLst>
              <a:ext uri="{FF2B5EF4-FFF2-40B4-BE49-F238E27FC236}">
                <a16:creationId xmlns:a16="http://schemas.microsoft.com/office/drawing/2014/main" id="{89E2C097-AB88-DFAA-A0D8-D38ACFA3B0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778321"/>
            <a:ext cx="11233150" cy="319318"/>
          </a:xfrm>
        </p:spPr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5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BFE6-8610-FC66-1161-EC838482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66039297-9949-FEAB-26F1-2B559EC4FD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1B3FA414-1B2B-9A71-870E-BB7FCCBD8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F7542CC9-D1BF-433D-0774-7004D40CC84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288"/>
            <a:ext cx="11233150" cy="382477"/>
          </a:xfrm>
        </p:spPr>
        <p:txBody>
          <a:bodyPr vert="horz"/>
          <a:lstStyle/>
          <a:p>
            <a:pPr lvl="0"/>
            <a:r>
              <a:rPr lang="de-DE" dirty="0" err="1"/>
              <a:t>Example</a:t>
            </a:r>
            <a:r>
              <a:rPr lang="de-DE" dirty="0"/>
              <a:t> Query </a:t>
            </a:r>
            <a:r>
              <a:rPr lang="de-DE" dirty="0" err="1"/>
              <a:t>for</a:t>
            </a:r>
            <a:r>
              <a:rPr lang="de-DE" dirty="0"/>
              <a:t> Capability Check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DF67530-283A-5425-819E-E1B6DBB7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CAC2C9A5-8BB3-4A95-A883-8E124E9E9671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191C35-CB1A-4323-802E-1F0592A7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DDF46E-93CB-76FA-1652-12426F0BA5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778321"/>
            <a:ext cx="11233150" cy="319318"/>
          </a:xfrm>
        </p:spPr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A1BA5530-9BC8-C825-DD2C-DCAC8145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632FCD26-8D28-DA98-3C94-ED4F49BD6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25" y="1517512"/>
            <a:ext cx="101156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11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E635-20CD-7ADE-BF42-A25D1C66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5206223C-1DB5-9C5C-8AD8-AA8079FA9C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1B3FA414-1B2B-9A71-870E-BB7FCCBD8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F8B1B92F-6BDD-1185-34ED-BB6B1E7272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288"/>
            <a:ext cx="11233150" cy="382477"/>
          </a:xfrm>
        </p:spPr>
        <p:txBody>
          <a:bodyPr vert="horz"/>
          <a:lstStyle/>
          <a:p>
            <a:pPr lvl="0"/>
            <a:r>
              <a:rPr lang="de-DE" dirty="0" err="1"/>
              <a:t>Example</a:t>
            </a:r>
            <a:r>
              <a:rPr lang="de-DE" dirty="0"/>
              <a:t> Query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Feasibility</a:t>
            </a:r>
            <a:r>
              <a:rPr lang="de-DE" dirty="0"/>
              <a:t> Check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391E13-93D9-0D81-8446-A2E1473A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CAC2C9A5-8BB3-4A95-A883-8E124E9E9671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BFB11D-82B1-C9ED-CFAA-261E5B4C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9E773917-B1AC-8FF6-5F95-F1F3028EC3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778321"/>
            <a:ext cx="11233150" cy="319318"/>
          </a:xfrm>
        </p:spPr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10AB8B2-2B7D-813F-B421-CD4699C1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FAFD3A-A6C3-D9FA-7180-00C36B86F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25" y="1507790"/>
            <a:ext cx="10719391" cy="457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40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B4A4D-FD0A-CD0E-FA37-39DC150E6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CFC8E2B3-D311-AF54-BA08-D353627BD3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BEBFB8EB-B05E-EDAA-1F8E-FB7D2936B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C5A625F9-AC4B-2C2E-EA9D-E861D4582A2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Discussion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7D61907-CE67-09D7-EA46-3568833D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4ED1027A-262F-13BD-537B-529EC92D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364BCA-1B5C-F976-AEA6-22A2CF654F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4588949"/>
          </a:xfrm>
        </p:spPr>
        <p:txBody>
          <a:bodyPr/>
          <a:lstStyle/>
          <a:p>
            <a:pPr marL="0" lvl="3" indent="0">
              <a:buNone/>
            </a:pPr>
            <a:r>
              <a:rPr lang="en-US" dirty="0">
                <a:latin typeface="+mj-lt"/>
              </a:rPr>
              <a:t>RQ1: </a:t>
            </a:r>
            <a:r>
              <a:rPr lang="en-US" sz="1600" dirty="0"/>
              <a:t>How can a structured ontology architecture be developed to support capability-based </a:t>
            </a:r>
            <a:r>
              <a:rPr lang="de-DE" sz="1600" dirty="0" err="1"/>
              <a:t>co</a:t>
            </a:r>
            <a:r>
              <a:rPr lang="de-DE" sz="1600" dirty="0"/>
              <a:t>-simulation configuration?</a:t>
            </a:r>
          </a:p>
          <a:p>
            <a:pPr lvl="3"/>
            <a:r>
              <a:rPr lang="en-US" dirty="0"/>
              <a:t>Upper-level (BFO), Mid-level (CSS, VDI 3633, ISO 25010, IDTA SMT), Domain-level (protocol-specific), Use-case-level (scenario-specific)</a:t>
            </a:r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RQ2: </a:t>
            </a:r>
            <a:r>
              <a:rPr lang="en-US" sz="1600" dirty="0"/>
              <a:t>How can simulation models be represented into the ontology architecture to guide </a:t>
            </a:r>
            <a:r>
              <a:rPr lang="de-DE" sz="1600" dirty="0"/>
              <a:t>capability-based </a:t>
            </a:r>
            <a:r>
              <a:rPr lang="de-DE" sz="1600" dirty="0" err="1"/>
              <a:t>co</a:t>
            </a:r>
            <a:r>
              <a:rPr lang="de-DE" sz="1600" dirty="0"/>
              <a:t>-simulation configuration? </a:t>
            </a:r>
            <a:endParaRPr lang="en-US" dirty="0"/>
          </a:p>
          <a:p>
            <a:pPr lvl="3"/>
            <a:r>
              <a:rPr lang="en-US" dirty="0"/>
              <a:t>Models represented using IDTA SMT "Provision of Simulation Models" with protocol-specific information</a:t>
            </a:r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RQ3: </a:t>
            </a:r>
            <a:r>
              <a:rPr lang="en-US" sz="1600" dirty="0"/>
              <a:t>How can capabilities and quality attributes be formally incorporated to enable </a:t>
            </a:r>
            <a:r>
              <a:rPr lang="de-DE" sz="1600" dirty="0"/>
              <a:t>automated configuration?</a:t>
            </a:r>
            <a:endParaRPr lang="en-US" dirty="0"/>
          </a:p>
          <a:p>
            <a:pPr lvl="3"/>
            <a:r>
              <a:rPr lang="en-US" dirty="0" err="1"/>
              <a:t>CSS:Capability</a:t>
            </a:r>
            <a:r>
              <a:rPr lang="en-US" dirty="0"/>
              <a:t> standard for defining capabilities</a:t>
            </a:r>
          </a:p>
          <a:p>
            <a:pPr lvl="3"/>
            <a:r>
              <a:rPr lang="en-US" dirty="0"/>
              <a:t>ISO 25010-based modeling for Quality attributes</a:t>
            </a:r>
          </a:p>
          <a:p>
            <a:pPr marL="0" lvl="3" indent="0">
              <a:buNone/>
            </a:pPr>
            <a:r>
              <a:rPr lang="en-US" dirty="0">
                <a:latin typeface="+mj-lt"/>
              </a:rPr>
              <a:t>RQ4: </a:t>
            </a:r>
            <a:r>
              <a:rPr lang="en-US" sz="1600" dirty="0"/>
              <a:t>How can communication protocols at the domain level be semantically represented to ensure interoperability in co-simulation? </a:t>
            </a:r>
          </a:p>
          <a:p>
            <a:pPr lvl="3"/>
            <a:r>
              <a:rPr lang="en-US" dirty="0"/>
              <a:t>FERAL documentation semantics mapped to IDTA SMT standards</a:t>
            </a:r>
          </a:p>
          <a:p>
            <a:pPr lvl="3"/>
            <a:r>
              <a:rPr lang="en-US" dirty="0"/>
              <a:t>Detailed ontological representations for CAN, LIN, Ethernet, and FlexRay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de-DE" dirty="0"/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AC25C4FC-3F90-9DD8-5767-9D154F13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7849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007A-5B46-64DD-4B47-7C695A46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45BB03F9-F4BC-6952-36F2-7A0ECD8CBC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BEBFB8EB-B05E-EDAA-1F8E-FB7D2936B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305CC693-A667-A06A-7377-F6D3E766326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</p:spPr>
        <p:txBody>
          <a:bodyPr vert="horz"/>
          <a:lstStyle/>
          <a:p>
            <a:pPr lvl="0"/>
            <a:r>
              <a:rPr lang="de-DE" dirty="0"/>
              <a:t>Conclusion &amp; Future Work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7E0437B3-57C7-0CFE-69C7-B6192526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7917393B-1609-4A44-BF1B-B40F2F74FB7C}" type="datetime1">
              <a:rPr lang="de-DE" noProof="0" smtClean="0"/>
              <a:t>01.07.2025</a:t>
            </a:fld>
            <a:endParaRPr lang="de-DE" noProof="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9748486E-A284-55BF-B6FE-EE2EBE84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73EDBB-EF57-BBBA-9ED4-D311F7CA8F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2963888"/>
          </a:xfrm>
        </p:spPr>
        <p:txBody>
          <a:bodyPr/>
          <a:lstStyle/>
          <a:p>
            <a:pPr lvl="3"/>
            <a:r>
              <a:rPr lang="de-DE" dirty="0" err="1"/>
              <a:t>Developed</a:t>
            </a:r>
            <a:r>
              <a:rPr lang="de-DE" dirty="0"/>
              <a:t> a modular, </a:t>
            </a:r>
            <a:r>
              <a:rPr lang="de-DE" dirty="0" err="1"/>
              <a:t>four-layer</a:t>
            </a:r>
            <a:r>
              <a:rPr lang="de-DE" dirty="0"/>
              <a:t> ontology architecture for semantic </a:t>
            </a:r>
            <a:r>
              <a:rPr lang="de-DE" dirty="0" err="1"/>
              <a:t>co</a:t>
            </a:r>
            <a:r>
              <a:rPr lang="de-DE" dirty="0"/>
              <a:t>-simulation configuration.</a:t>
            </a:r>
          </a:p>
          <a:p>
            <a:pPr lvl="3"/>
            <a:r>
              <a:rPr lang="de-DE" dirty="0" err="1"/>
              <a:t>Successfully</a:t>
            </a:r>
            <a:r>
              <a:rPr lang="de-DE" dirty="0"/>
              <a:t> </a:t>
            </a:r>
            <a:r>
              <a:rPr lang="de-DE" dirty="0" err="1"/>
              <a:t>aligned</a:t>
            </a:r>
            <a:r>
              <a:rPr lang="de-DE" dirty="0"/>
              <a:t> multiple </a:t>
            </a:r>
            <a:r>
              <a:rPr lang="de-DE" dirty="0" err="1"/>
              <a:t>industry</a:t>
            </a:r>
            <a:r>
              <a:rPr lang="de-DE" dirty="0"/>
              <a:t> </a:t>
            </a:r>
            <a:r>
              <a:rPr lang="de-DE" dirty="0" err="1"/>
              <a:t>standards</a:t>
            </a:r>
            <a:r>
              <a:rPr lang="de-DE" dirty="0"/>
              <a:t> (BFO, VDI 3633, CSS, IDTA SMT, ISO 25010).</a:t>
            </a:r>
          </a:p>
          <a:p>
            <a:pPr lvl="3"/>
            <a:r>
              <a:rPr lang="de-DE" dirty="0" err="1"/>
              <a:t>Formalized</a:t>
            </a:r>
            <a:r>
              <a:rPr lang="de-DE" dirty="0"/>
              <a:t> </a:t>
            </a:r>
            <a:r>
              <a:rPr lang="de-DE" dirty="0" err="1"/>
              <a:t>communication</a:t>
            </a:r>
            <a:r>
              <a:rPr lang="de-DE" dirty="0"/>
              <a:t> </a:t>
            </a:r>
            <a:r>
              <a:rPr lang="de-DE" dirty="0" err="1"/>
              <a:t>protocols</a:t>
            </a:r>
            <a:r>
              <a:rPr lang="de-DE" dirty="0"/>
              <a:t> (CAN, LIN, Ethernet, FlexRay) </a:t>
            </a:r>
            <a:r>
              <a:rPr lang="de-DE" dirty="0" err="1"/>
              <a:t>using</a:t>
            </a:r>
            <a:r>
              <a:rPr lang="de-DE" dirty="0"/>
              <a:t> OWL + </a:t>
            </a:r>
            <a:r>
              <a:rPr lang="de-DE" dirty="0" err="1"/>
              <a:t>industrial</a:t>
            </a:r>
            <a:r>
              <a:rPr lang="de-DE" dirty="0"/>
              <a:t> ODPs.</a:t>
            </a:r>
          </a:p>
          <a:p>
            <a:pPr lvl="3"/>
            <a:r>
              <a:rPr lang="en-US" dirty="0"/>
              <a:t>Integrate with simulation execution platforms to complete the capability-based configuration cycle through automated execution.</a:t>
            </a:r>
          </a:p>
          <a:p>
            <a:pPr lvl="3"/>
            <a:r>
              <a:rPr lang="en-US" dirty="0"/>
              <a:t>Implement query-driven or rule-based mechanisms to automatically derive capabilities and simulation scenarios from simulation goals.</a:t>
            </a:r>
          </a:p>
          <a:p>
            <a:pPr lvl="3"/>
            <a:r>
              <a:rPr lang="en-US" dirty="0"/>
              <a:t>Introduce granular, reusable representations of simulation model quality attributes.</a:t>
            </a:r>
          </a:p>
          <a:p>
            <a:pPr marL="0" lvl="3" indent="0">
              <a:buNone/>
            </a:pPr>
            <a:endParaRPr lang="de-DE" dirty="0"/>
          </a:p>
          <a:p>
            <a:pPr lvl="3"/>
            <a:endParaRPr lang="de-DE" dirty="0"/>
          </a:p>
          <a:p>
            <a:pPr marL="0" lvl="3" indent="0">
              <a:buNone/>
            </a:pPr>
            <a:endParaRPr lang="de-DE" dirty="0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30DFC819-0FD8-F881-D62D-6885FC14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IESE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49103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69FAB3-F139-4D43-A7C4-4D804D9FD1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9425" y="2255355"/>
            <a:ext cx="11233149" cy="2046458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r>
              <a:rPr lang="de-DE" dirty="0"/>
              <a:t>!</a:t>
            </a:r>
          </a:p>
          <a:p>
            <a:pPr marL="457200" lvl="1" indent="0">
              <a:buNone/>
            </a:pPr>
            <a:r>
              <a:rPr lang="de-DE" dirty="0"/>
              <a:t>—</a:t>
            </a:r>
          </a:p>
        </p:txBody>
      </p:sp>
      <p:pic>
        <p:nvPicPr>
          <p:cNvPr id="2" name="iese_rgb_modul">
            <a:extLst>
              <a:ext uri="{FF2B5EF4-FFF2-40B4-BE49-F238E27FC236}">
                <a16:creationId xmlns:a16="http://schemas.microsoft.com/office/drawing/2014/main" id="{1950B14A-D34C-BCE3-41C4-F49FB01C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575" y="476250"/>
            <a:ext cx="2520000" cy="9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43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raunhofer_Master_16-9">
  <a:themeElements>
    <a:clrScheme name="Fraunhofer_Color">
      <a:dk1>
        <a:sysClr val="windowText" lastClr="000000"/>
      </a:dk1>
      <a:lt1>
        <a:sysClr val="window" lastClr="FFFFFF"/>
      </a:lt1>
      <a:dk2>
        <a:srgbClr val="F58220"/>
      </a:dk2>
      <a:lt2>
        <a:srgbClr val="A6BBC8"/>
      </a:lt2>
      <a:accent1>
        <a:srgbClr val="179C7D"/>
      </a:accent1>
      <a:accent2>
        <a:srgbClr val="005B7F"/>
      </a:accent2>
      <a:accent3>
        <a:srgbClr val="A6BBC8"/>
      </a:accent3>
      <a:accent4>
        <a:srgbClr val="008598"/>
      </a:accent4>
      <a:accent5>
        <a:srgbClr val="39C1CD"/>
      </a:accent5>
      <a:accent6>
        <a:srgbClr val="B2D235"/>
      </a:accent6>
      <a:hlink>
        <a:srgbClr val="179C7D"/>
      </a:hlink>
      <a:folHlink>
        <a:srgbClr val="005B7F"/>
      </a:folHlink>
    </a:clrScheme>
    <a:fontScheme name="Fraunhofer_Fonts">
      <a:majorFont>
        <a:latin typeface="Frutiger LT Com 65 Bold"/>
        <a:ea typeface=""/>
        <a:cs typeface=""/>
      </a:majorFont>
      <a:minorFont>
        <a:latin typeface="Frutiger LT Com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CDEE5"/>
        </a:solidFill>
        <a:ln w="9525">
          <a:noFill/>
        </a:ln>
      </a:spPr>
      <a:bodyPr lIns="108000" tIns="108000" rIns="108000" bIns="108000" rtlCol="0" anchor="ctr"/>
      <a:lstStyle>
        <a:defPPr marL="180000" indent="-180000" algn="l">
          <a:lnSpc>
            <a:spcPts val="1960"/>
          </a:lnSpc>
          <a:buClr>
            <a:schemeClr val="accent1"/>
          </a:buClr>
          <a:buFont typeface="Wingdings" panose="05000000000000000000" pitchFamily="2" charset="2"/>
          <a:buChar char="§"/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180000" indent="-180000" algn="l">
          <a:lnSpc>
            <a:spcPts val="1960"/>
          </a:lnSpc>
          <a:buClr>
            <a:schemeClr val="accent1"/>
          </a:buClr>
          <a:buFont typeface="Wingdings" panose="05000000000000000000" pitchFamily="2" charset="2"/>
          <a:buChar char="§"/>
          <a:defRPr sz="1400" dirty="0" smtClean="0"/>
        </a:defPPr>
      </a:lstStyle>
    </a:txDef>
  </a:objectDefaults>
  <a:extraClrSchemeLst/>
  <a:custClrLst>
    <a:custClr>
      <a:srgbClr val="179C7D"/>
    </a:custClr>
    <a:custClr>
      <a:srgbClr val="005B7F"/>
    </a:custClr>
    <a:custClr>
      <a:srgbClr val="A6BBC8"/>
    </a:custClr>
    <a:custClr>
      <a:srgbClr val="F58220"/>
    </a:custClr>
    <a:custClr>
      <a:srgbClr val="FFFFFF"/>
    </a:custClr>
    <a:custClr>
      <a:srgbClr val="337C99"/>
    </a:custClr>
    <a:custClr>
      <a:srgbClr val="669DB2"/>
    </a:custClr>
    <a:custClr>
      <a:srgbClr val="99BDCC"/>
    </a:custClr>
    <a:custClr>
      <a:srgbClr val="CCDEE5"/>
    </a:custClr>
    <a:custClr>
      <a:srgbClr val="E5EEF2"/>
    </a:custClr>
    <a:custClr>
      <a:srgbClr val="1C3F52"/>
    </a:custClr>
    <a:custClr>
      <a:srgbClr val="D3C7AE"/>
    </a:custClr>
    <a:custClr>
      <a:srgbClr val="008598"/>
    </a:custClr>
    <a:custClr>
      <a:srgbClr val="39C1CD"/>
    </a:custClr>
    <a:custClr>
      <a:srgbClr val="B2D235"/>
    </a:custClr>
    <a:custClr>
      <a:srgbClr val="FDB913"/>
    </a:custClr>
    <a:custClr>
      <a:srgbClr val="BB0056"/>
    </a:custClr>
    <a:custClr>
      <a:srgbClr val="7C154D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äsentation7" id="{14180148-20CF-4DA7-A721-921E466A1C22}" vid="{F8CF5006-811B-4D57-A7EB-E6DAF4B53F7A}"/>
    </a:ext>
  </a:extLst>
</a:theme>
</file>

<file path=ppt/theme/theme2.xml><?xml version="1.0" encoding="utf-8"?>
<a:theme xmlns:a="http://schemas.openxmlformats.org/drawingml/2006/main" name="Office">
  <a:themeElements>
    <a:clrScheme name="Fraunhofer_Color">
      <a:dk1>
        <a:sysClr val="windowText" lastClr="000000"/>
      </a:dk1>
      <a:lt1>
        <a:sysClr val="window" lastClr="FFFFFF"/>
      </a:lt1>
      <a:dk2>
        <a:srgbClr val="F58220"/>
      </a:dk2>
      <a:lt2>
        <a:srgbClr val="A6BBC8"/>
      </a:lt2>
      <a:accent1>
        <a:srgbClr val="179C7D"/>
      </a:accent1>
      <a:accent2>
        <a:srgbClr val="005B7F"/>
      </a:accent2>
      <a:accent3>
        <a:srgbClr val="A6BBC8"/>
      </a:accent3>
      <a:accent4>
        <a:srgbClr val="008598"/>
      </a:accent4>
      <a:accent5>
        <a:srgbClr val="39C1CD"/>
      </a:accent5>
      <a:accent6>
        <a:srgbClr val="B2D235"/>
      </a:accent6>
      <a:hlink>
        <a:srgbClr val="179C7D"/>
      </a:hlink>
      <a:folHlink>
        <a:srgbClr val="005B7F"/>
      </a:folHlink>
    </a:clrScheme>
    <a:fontScheme name="Fraunhofer_Fonts">
      <a:majorFont>
        <a:latin typeface="Frutiger LT Com 65 Bold"/>
        <a:ea typeface=""/>
        <a:cs typeface=""/>
      </a:majorFont>
      <a:minorFont>
        <a:latin typeface="Frutiger LT Com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Fraunhofer_Color">
      <a:dk1>
        <a:sysClr val="windowText" lastClr="000000"/>
      </a:dk1>
      <a:lt1>
        <a:sysClr val="window" lastClr="FFFFFF"/>
      </a:lt1>
      <a:dk2>
        <a:srgbClr val="F58220"/>
      </a:dk2>
      <a:lt2>
        <a:srgbClr val="A6BBC8"/>
      </a:lt2>
      <a:accent1>
        <a:srgbClr val="179C7D"/>
      </a:accent1>
      <a:accent2>
        <a:srgbClr val="005B7F"/>
      </a:accent2>
      <a:accent3>
        <a:srgbClr val="A6BBC8"/>
      </a:accent3>
      <a:accent4>
        <a:srgbClr val="008598"/>
      </a:accent4>
      <a:accent5>
        <a:srgbClr val="39C1CD"/>
      </a:accent5>
      <a:accent6>
        <a:srgbClr val="B2D235"/>
      </a:accent6>
      <a:hlink>
        <a:srgbClr val="179C7D"/>
      </a:hlink>
      <a:folHlink>
        <a:srgbClr val="005B7F"/>
      </a:folHlink>
    </a:clrScheme>
    <a:fontScheme name="Fraunhofer_Fonts">
      <a:majorFont>
        <a:latin typeface="Frutiger LT Com 65 Bold"/>
        <a:ea typeface=""/>
        <a:cs typeface=""/>
      </a:majorFont>
      <a:minorFont>
        <a:latin typeface="Frutiger LT Com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PP_190122_Fraunhofer_Master_16-9 (5)</Template>
  <TotalTime>0</TotalTime>
  <Words>1184</Words>
  <Application>Microsoft Office PowerPoint</Application>
  <PresentationFormat>Widescreen</PresentationFormat>
  <Paragraphs>209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Frutiger LT Com 45 Light</vt:lpstr>
      <vt:lpstr>Frutiger LT Com 65 Bold</vt:lpstr>
      <vt:lpstr>Frutiger LT Com 75 Black</vt:lpstr>
      <vt:lpstr>Wingdings</vt:lpstr>
      <vt:lpstr>Fraunhofer_Master_16-9</vt:lpstr>
      <vt:lpstr>think-cell Folie</vt:lpstr>
      <vt:lpstr>PowerPoint Presentation</vt:lpstr>
      <vt:lpstr>Agenda</vt:lpstr>
      <vt:lpstr>Introduction</vt:lpstr>
      <vt:lpstr>Related Work &amp; Research Gap</vt:lpstr>
      <vt:lpstr>Ontological Framework for Capability-based Co-Simulation</vt:lpstr>
      <vt:lpstr>Upper-Level Ontology</vt:lpstr>
      <vt:lpstr>Mid-Level Ontology</vt:lpstr>
      <vt:lpstr>Ontology Architecture as the example of Fraunhofer IESE’s use case AEB</vt:lpstr>
      <vt:lpstr>Domain-Level Ontologies for Fraunhofer IESE</vt:lpstr>
      <vt:lpstr>Use-case-Level Ontology for Use-case AEB</vt:lpstr>
      <vt:lpstr>Capability-based Engineering Approach</vt:lpstr>
      <vt:lpstr>Evaluation</vt:lpstr>
      <vt:lpstr>Simulation Goals Definition</vt:lpstr>
      <vt:lpstr>Example Query for Capability Check</vt:lpstr>
      <vt:lpstr>Example Query for Feasibility Check</vt:lpstr>
      <vt:lpstr>Discussion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Schmitt, Siwara</dc:creator>
  <cp:lastModifiedBy>Chakraborty, Anuja</cp:lastModifiedBy>
  <cp:revision>38</cp:revision>
  <dcterms:created xsi:type="dcterms:W3CDTF">2025-06-29T16:21:54Z</dcterms:created>
  <dcterms:modified xsi:type="dcterms:W3CDTF">2025-07-02T12:28:24Z</dcterms:modified>
</cp:coreProperties>
</file>